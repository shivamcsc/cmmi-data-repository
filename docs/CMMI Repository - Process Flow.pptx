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cess flow" id="{75f57ab8-1fe6-821f-db7a-5ff69307ccdb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sheet, followed all the way through. Six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show one slide, show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to this. The detail of who may delete is not needed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Uploading is done by the team member who owns the sheet, or by the administrator on their behalf.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go into the matching rules unless asked. The point is that nobody has to edit a sheet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different people, three different roles. That is the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The row count is the only number in the deck - mention it once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8FA8DC"/>
                </a:solidFill>
              </a:defRPr>
            </a:lvl1pPr>
          </a:lstStyle>
          <a:p>
            <a:pPr indent="0" marL="0">
              <a:buNone/>
            </a:pPr>
            <a:r>
              <a:rPr lang="en-US" sz="1300" b="1" spc="300" kern="0" dirty="0">
                <a:solidFill>
                  <a:srgbClr val="8FA8DC"/>
                </a:solidFill>
              </a:rPr>
              <a:t> 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11064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 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566160"/>
            <a:ext cx="95097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BFD0EE"/>
                </a:solidFill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BFD0EE"/>
                </a:solidFill>
              </a:rPr>
              <a:t> 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D1B3E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D1B3E"/>
                </a:solidFill>
              </a:rPr>
              <a:t> 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D1B3E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D1B3E"/>
                </a:solidFill>
              </a:rPr>
              <a:t> 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 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D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A8DC"/>
                </a:solidFill>
              </a:rPr>
              <a:t>CSC  ·  CMMI DATA REPOSITORY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Process flow, end to end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566160"/>
            <a:ext cx="950976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dirty="0">
                <a:solidFill>
                  <a:srgbClr val="BFD0EE"/>
                </a:solidFill>
              </a:rPr>
              <a:t>From a person uploading a data collection sheet to data the team can read, filter and export.</a:t>
            </a:r>
            <a:endParaRPr lang="en-US" sz="1700" dirty="0"/>
          </a:p>
        </p:txBody>
      </p:sp>
      <p:sp>
        <p:nvSpPr>
          <p:cNvPr id="5" name="stat-0"/>
          <p:cNvSpPr txBox="1"/>
          <p:nvPr/>
        </p:nvSpPr>
        <p:spPr>
          <a:xfrm>
            <a:off x="548640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DC"/>
                </a:solidFill>
              </a:rPr>
              <a:t>person uploads</a:t>
            </a:r>
            <a:endParaRPr lang="en-US" sz="1300" dirty="0"/>
          </a:p>
        </p:txBody>
      </p:sp>
      <p:sp>
        <p:nvSpPr>
          <p:cNvPr id="7" name="stat-1"/>
          <p:cNvSpPr txBox="1"/>
          <p:nvPr/>
        </p:nvSpPr>
        <p:spPr>
          <a:xfrm>
            <a:off x="3840480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DC"/>
                </a:solidFill>
              </a:rPr>
              <a:t>sign-offs</a:t>
            </a:r>
            <a:endParaRPr lang="en-US" sz="1300" dirty="0"/>
          </a:p>
        </p:txBody>
      </p:sp>
      <p:sp>
        <p:nvSpPr>
          <p:cNvPr id="9" name="stat-2"/>
          <p:cNvSpPr txBox="1"/>
          <p:nvPr/>
        </p:nvSpPr>
        <p:spPr>
          <a:xfrm>
            <a:off x="7132320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DC"/>
                </a:solidFill>
              </a:rPr>
              <a:t>place to read 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3E"/>
                </a:solidFill>
              </a:rPr>
              <a:t>The whole journey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568"/>
                </a:solidFill>
              </a:rPr>
              <a:t>Four steps. The first two happen on their own; the last two need three different people.</a:t>
            </a:r>
            <a:endParaRPr lang="en-US" sz="1550" dirty="0"/>
          </a:p>
        </p:txBody>
      </p:sp>
      <p:sp>
        <p:nvSpPr>
          <p:cNvPr id="4" name="j-0"/>
          <p:cNvSpPr/>
          <p:nvPr/>
        </p:nvSpPr>
        <p:spPr>
          <a:xfrm>
            <a:off x="548640" y="228600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46888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563EB"/>
                </a:solidFill>
              </a:rPr>
              <a:t>STEP 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76148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Upload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108960"/>
            <a:ext cx="20665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A team member picks the project and sends the sheet.</a:t>
            </a:r>
            <a:endParaRPr lang="en-US" sz="1200" dirty="0"/>
          </a:p>
        </p:txBody>
      </p:sp>
      <p:sp>
        <p:nvSpPr>
          <p:cNvPr id="8" name="arr-3.38"/>
          <p:cNvSpPr/>
          <p:nvPr/>
        </p:nvSpPr>
        <p:spPr>
          <a:xfrm>
            <a:off x="3090672" y="3154680"/>
            <a:ext cx="310896" cy="384048"/>
          </a:xfrm>
          <a:prstGeom prst="chevron">
            <a:avLst/>
          </a:prstGeom>
          <a:solidFill>
            <a:srgbClr val="2563EB"/>
          </a:solidFill>
          <a:ln/>
        </p:spPr>
      </p:sp>
      <p:sp>
        <p:nvSpPr>
          <p:cNvPr id="9" name="j-1"/>
          <p:cNvSpPr/>
          <p:nvPr/>
        </p:nvSpPr>
        <p:spPr>
          <a:xfrm>
            <a:off x="3401568" y="228600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6A71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02736" y="246888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A7179"/>
                </a:solidFill>
              </a:rPr>
              <a:t>STEP 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02736" y="276148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A7179"/>
                </a:solidFill>
              </a:rPr>
              <a:t>Read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02736" y="3108960"/>
            <a:ext cx="20665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The system reads the sheet and stores it as rows.</a:t>
            </a:r>
            <a:endParaRPr lang="en-US" sz="1200" dirty="0"/>
          </a:p>
        </p:txBody>
      </p:sp>
      <p:sp>
        <p:nvSpPr>
          <p:cNvPr id="13" name="arr-6.5"/>
          <p:cNvSpPr/>
          <p:nvPr/>
        </p:nvSpPr>
        <p:spPr>
          <a:xfrm>
            <a:off x="5943600" y="3154680"/>
            <a:ext cx="310896" cy="384048"/>
          </a:xfrm>
          <a:prstGeom prst="chevron">
            <a:avLst/>
          </a:prstGeom>
          <a:solidFill>
            <a:srgbClr val="6A7179"/>
          </a:solidFill>
          <a:ln/>
        </p:spPr>
      </p:sp>
      <p:sp>
        <p:nvSpPr>
          <p:cNvPr id="14" name="j-2"/>
          <p:cNvSpPr/>
          <p:nvPr/>
        </p:nvSpPr>
        <p:spPr>
          <a:xfrm>
            <a:off x="6254496" y="228600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A06C0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246888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06C0A"/>
                </a:solidFill>
              </a:rPr>
              <a:t>STEP 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76148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06C0A"/>
                </a:solidFill>
              </a:rPr>
              <a:t>Approve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108960"/>
            <a:ext cx="20665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Vertical Head, then Administrator, then CTO.</a:t>
            </a:r>
            <a:endParaRPr lang="en-US" sz="1200" dirty="0"/>
          </a:p>
        </p:txBody>
      </p:sp>
      <p:sp>
        <p:nvSpPr>
          <p:cNvPr id="18" name="arr-9.62"/>
          <p:cNvSpPr/>
          <p:nvPr/>
        </p:nvSpPr>
        <p:spPr>
          <a:xfrm>
            <a:off x="8796528" y="3154680"/>
            <a:ext cx="310896" cy="384048"/>
          </a:xfrm>
          <a:prstGeom prst="chevron">
            <a:avLst/>
          </a:prstGeom>
          <a:solidFill>
            <a:srgbClr val="A06C0A"/>
          </a:solidFill>
          <a:ln/>
        </p:spPr>
      </p:sp>
      <p:sp>
        <p:nvSpPr>
          <p:cNvPr id="19" name="j-3"/>
          <p:cNvSpPr/>
          <p:nvPr/>
        </p:nvSpPr>
        <p:spPr>
          <a:xfrm>
            <a:off x="9107424" y="228600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1766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8592" y="246888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7663A"/>
                </a:solidFill>
              </a:rPr>
              <a:t>STEP 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308592" y="276148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663A"/>
                </a:solidFill>
              </a:rPr>
              <a:t>Use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308592" y="3108960"/>
            <a:ext cx="20665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Browse, filter and export the approved data.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Nothing counts as data until all three sign-offs are given.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3E"/>
                </a:solidFill>
              </a:rPr>
              <a:t>Who does what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568"/>
                </a:solidFill>
              </a:rPr>
              <a:t>Each approval belongs to one role, so no single person can push a sheet through.</a:t>
            </a:r>
            <a:endParaRPr lang="en-US" sz="15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6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Head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5A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sign-off, for their own projects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6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4A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sign-off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B2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sign-off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14300" marB="114300">
                    <a:lnL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3E"/>
                </a:solidFill>
              </a:rPr>
              <a:t>A vertical head sees only the projects they are responsible for. The administrator and CTO see everything.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3E"/>
                </a:solidFill>
              </a:rPr>
              <a:t>Step 1 — Upload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568"/>
                </a:solidFill>
              </a:rPr>
              <a:t>Three choices on one screen, and the sheet is in.</a:t>
            </a:r>
            <a:endParaRPr lang="en-US" sz="1550" dirty="0"/>
          </a:p>
        </p:txBody>
      </p:sp>
      <p:sp>
        <p:nvSpPr>
          <p:cNvPr id="4" name="u-0"/>
          <p:cNvSpPr/>
          <p:nvPr/>
        </p:nvSpPr>
        <p:spPr>
          <a:xfrm>
            <a:off x="548640" y="228600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4688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Project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816352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Chosen from a list, never typed.</a:t>
            </a:r>
            <a:endParaRPr lang="en-US" sz="1200" dirty="0"/>
          </a:p>
        </p:txBody>
      </p:sp>
      <p:sp>
        <p:nvSpPr>
          <p:cNvPr id="7" name="u-1"/>
          <p:cNvSpPr/>
          <p:nvPr/>
        </p:nvSpPr>
        <p:spPr>
          <a:xfrm>
            <a:off x="4297680" y="228600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24688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File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2816352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The Excel sheet, kept exactly as it was sent.</a:t>
            </a:r>
            <a:endParaRPr lang="en-US" sz="1200" dirty="0"/>
          </a:p>
        </p:txBody>
      </p:sp>
      <p:sp>
        <p:nvSpPr>
          <p:cNvPr id="10" name="u-2"/>
          <p:cNvSpPr/>
          <p:nvPr/>
        </p:nvSpPr>
        <p:spPr>
          <a:xfrm>
            <a:off x="8046720" y="228600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24688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Period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816352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Read from the file name, and editable if it is wrong.</a:t>
            </a:r>
            <a:endParaRPr lang="en-US" sz="1200" dirty="0"/>
          </a:p>
        </p:txBody>
      </p:sp>
      <p:sp>
        <p:nvSpPr>
          <p:cNvPr id="13" name="note"/>
          <p:cNvSpPr/>
          <p:nvPr/>
        </p:nvSpPr>
        <p:spPr>
          <a:xfrm>
            <a:off x="548640" y="42062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8EF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434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D1B3E"/>
                </a:solidFill>
              </a:rPr>
              <a:t>The same sheet cannot be uploaded twice by mistake — the system recognises a file it has already stored and says so.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3E"/>
                </a:solidFill>
              </a:rPr>
              <a:t>Step 2 — The sheet is read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568"/>
                </a:solidFill>
              </a:rPr>
              <a:t>Every team filled the template a little differently. The system absorbs that automatically.</a:t>
            </a:r>
            <a:endParaRPr lang="en-US" sz="1550" dirty="0"/>
          </a:p>
        </p:txBody>
      </p:sp>
      <p:sp>
        <p:nvSpPr>
          <p:cNvPr id="4" name="r-0"/>
          <p:cNvSpPr/>
          <p:nvPr/>
        </p:nvSpPr>
        <p:spPr>
          <a:xfrm>
            <a:off x="548640" y="22860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4688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It finds the headings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816352"/>
            <a:ext cx="31638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They are not always on the first row, so the system looks for them.</a:t>
            </a:r>
            <a:endParaRPr lang="en-US" sz="1200" dirty="0"/>
          </a:p>
        </p:txBody>
      </p:sp>
      <p:sp>
        <p:nvSpPr>
          <p:cNvPr id="7" name="r-1"/>
          <p:cNvSpPr/>
          <p:nvPr/>
        </p:nvSpPr>
        <p:spPr>
          <a:xfrm>
            <a:off x="4297680" y="22860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24688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It understands the wording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3017520"/>
            <a:ext cx="31638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'Planned Effort' and 'Planned effort (hrs)' are recognised as the same thing.</a:t>
            </a:r>
            <a:endParaRPr lang="en-US" sz="1200" dirty="0"/>
          </a:p>
        </p:txBody>
      </p:sp>
      <p:sp>
        <p:nvSpPr>
          <p:cNvPr id="10" name="r-2"/>
          <p:cNvSpPr/>
          <p:nvPr/>
        </p:nvSpPr>
        <p:spPr>
          <a:xfrm>
            <a:off x="8046720" y="22860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1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24688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It stores one row per line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3017520"/>
            <a:ext cx="31638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Each line of the sheet becomes a row that can be searched and counted.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3E"/>
                </a:solidFill>
              </a:rPr>
              <a:t>Anything the system is unsure about is kept and shown to the reviewer, never thrown away.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3E"/>
                </a:solidFill>
              </a:rPr>
              <a:t>Step 3 — Three sign-offs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568"/>
                </a:solidFill>
              </a:rPr>
              <a:t>Each approver opens the sheet, checks what was read from it, and passes it on.</a:t>
            </a:r>
            <a:endParaRPr lang="en-US" sz="1550" dirty="0"/>
          </a:p>
        </p:txBody>
      </p:sp>
      <p:sp>
        <p:nvSpPr>
          <p:cNvPr id="4" name="s-0"/>
          <p:cNvSpPr/>
          <p:nvPr/>
        </p:nvSpPr>
        <p:spPr>
          <a:xfrm>
            <a:off x="548640" y="22860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A06C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468880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06C0A"/>
                </a:solidFill>
              </a:rPr>
              <a:t>STAGE 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76148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06C0A"/>
                </a:solidFill>
              </a:rPr>
              <a:t>Vertical Head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108960"/>
            <a:ext cx="31638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Checks the sheet for their own project.</a:t>
            </a:r>
            <a:endParaRPr lang="en-US" sz="1200" dirty="0"/>
          </a:p>
        </p:txBody>
      </p:sp>
      <p:sp>
        <p:nvSpPr>
          <p:cNvPr id="8" name="arr-4.56"/>
          <p:cNvSpPr/>
          <p:nvPr/>
        </p:nvSpPr>
        <p:spPr>
          <a:xfrm>
            <a:off x="4169664" y="3108960"/>
            <a:ext cx="310896" cy="384048"/>
          </a:xfrm>
          <a:prstGeom prst="chevron">
            <a:avLst/>
          </a:prstGeom>
          <a:solidFill>
            <a:srgbClr val="A06C0A"/>
          </a:solidFill>
          <a:ln/>
        </p:spPr>
      </p:sp>
      <p:sp>
        <p:nvSpPr>
          <p:cNvPr id="9" name="s-1"/>
          <p:cNvSpPr/>
          <p:nvPr/>
        </p:nvSpPr>
        <p:spPr>
          <a:xfrm>
            <a:off x="4297680" y="22860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2468880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563EB"/>
                </a:solidFill>
              </a:rPr>
              <a:t>STAGE 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76148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Administrator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3108960"/>
            <a:ext cx="31638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The second check.</a:t>
            </a:r>
            <a:endParaRPr lang="en-US" sz="1200" dirty="0"/>
          </a:p>
        </p:txBody>
      </p:sp>
      <p:sp>
        <p:nvSpPr>
          <p:cNvPr id="13" name="arr-8.66"/>
          <p:cNvSpPr/>
          <p:nvPr/>
        </p:nvSpPr>
        <p:spPr>
          <a:xfrm>
            <a:off x="7918704" y="3108960"/>
            <a:ext cx="310896" cy="384048"/>
          </a:xfrm>
          <a:prstGeom prst="chevron">
            <a:avLst/>
          </a:prstGeom>
          <a:solidFill>
            <a:srgbClr val="2563EB"/>
          </a:solidFill>
          <a:ln/>
        </p:spPr>
      </p:sp>
      <p:sp>
        <p:nvSpPr>
          <p:cNvPr id="14" name="s-2"/>
          <p:cNvSpPr/>
          <p:nvPr/>
        </p:nvSpPr>
        <p:spPr>
          <a:xfrm>
            <a:off x="8046720" y="22860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6D3F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47888" y="2468880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D3FC4"/>
                </a:solidFill>
              </a:rPr>
              <a:t>STAGE 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276148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D3FC4"/>
                </a:solidFill>
              </a:rPr>
              <a:t>CTO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3108960"/>
            <a:ext cx="31638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The final approval.</a:t>
            </a:r>
            <a:endParaRPr lang="en-US" sz="1200" dirty="0"/>
          </a:p>
        </p:txBody>
      </p:sp>
      <p:sp>
        <p:nvSpPr>
          <p:cNvPr id="18" name="rej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1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1A1A"/>
                </a:solidFill>
              </a:rPr>
              <a:t>If a sheet is turned down, </a:t>
            </a:r>
            <a:pPr indent="0" marL="0">
              <a:buNone/>
            </a:pPr>
            <a:r>
              <a:rPr lang="en-US" sz="1500" dirty="0">
                <a:solidFill>
                  <a:srgbClr val="7A1A1A"/>
                </a:solidFill>
              </a:rPr>
              <a:t>the reason is recorded and the team corrects the sheet and sends it again. The original stays on the record, so the history is clear.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Step 4 — Using the data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BFD0EE"/>
                </a:solidFill>
              </a:rPr>
              <a:t>Once approved, the sheet's figures sit alongside every other project's.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B9FF"/>
                </a:solidFill>
              </a:rPr>
              <a:t>Browse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FD0EE"/>
                </a:solidFill>
              </a:rPr>
              <a:t>Read the data on screen, filtered by project and period.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E3B8"/>
                </a:solidFill>
              </a:rPr>
              <a:t>Export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788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FD0EE"/>
                </a:solidFill>
              </a:rPr>
              <a:t>Download it as a spreadsheet whenever it is needed.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A6F5"/>
                </a:solidFill>
              </a:rPr>
              <a:t>Activity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788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FD0EE"/>
                </a:solidFill>
              </a:rPr>
              <a:t>See who uploaded and who approved what, and when.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89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Every project's sheets are now in one place and in one shape, so a question can be answered across all of them — roughly thirty-one thousand rows so far.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DC"/>
                </a:solidFill>
              </a:rPr>
              <a:t>That was the point: one template, eleven projects, one answer.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D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MMI Process Flow">
  <a:themeElements>
    <a:clrScheme name="CMMI Process Flow">
      <a:dk1>
        <a:srgbClr val="0D1B3E"/>
      </a:dk1>
      <a:lt1>
        <a:srgbClr val="FFFFFF"/>
      </a:lt1>
      <a:dk2>
        <a:srgbClr val="1B2D5B"/>
      </a:dk2>
      <a:lt2>
        <a:srgbClr val="F4F6FA"/>
      </a:lt2>
      <a:accent1>
        <a:srgbClr val="2563EB"/>
      </a:accent1>
      <a:accent2>
        <a:srgbClr val="A06C0A"/>
      </a:accent2>
      <a:accent3>
        <a:srgbClr val="6D3FC4"/>
      </a:accent3>
      <a:accent4>
        <a:srgbClr val="17663A"/>
      </a:accent4>
      <a:accent5>
        <a:srgbClr val="A12020"/>
      </a:accent5>
      <a:accent6>
        <a:srgbClr val="8FA8DC"/>
      </a:accent6>
      <a:hlink>
        <a:srgbClr val="2563EB"/>
      </a:hlink>
      <a:folHlink>
        <a:srgbClr val="6D3FC4"/>
      </a:folHlink>
    </a:clrScheme>
    <a:fontScheme name="CMMI Process Flo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CMMI Repository - Process Flow</dc:title>
  <dc:subject>End to end: from a person uploading a sheet to data you can query</dc:subject>
  <dc:creator>Rajkishore Kumar</dc:creator>
  <cp:lastModifiedBy>Rajkishore Kumar</cp:lastModifiedBy>
  <cp:revision>1</cp:revision>
  <dcterms:created xsi:type="dcterms:W3CDTF">2026-10-14T06:32:25Z</dcterms:created>
  <dcterms:modified xsi:type="dcterms:W3CDTF">2026-10-14T06:32:25Z</dcterms:modified>
</cp:coreProperties>
</file>