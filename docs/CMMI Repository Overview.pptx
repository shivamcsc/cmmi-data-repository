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62" r:id="rId6"/>
    <p:sldId id="263" r:id="rId7"/>
    <p:sldId id="259" r:id="rId8"/>
    <p:sldId id="260"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9bbb87-dd9a-b26e-792c-957e2449b65c}">
          <p14:sldIdLst>
            <p14:sldId id="256"/>
            <p14:sldId id="258"/>
          </p14:sldIdLst>
        </p14:section>
        <p14:section name="How a sheet gets in" id="{d61c57ab-5856-cbb4-912c-c96c88930eed}">
          <p14:sldIdLst>
            <p14:sldId id="262"/>
            <p14:sldId id="263"/>
            <p14:sldId id="259"/>
            <p14:sldId id="260"/>
            <p14:sldId id="264"/>
          </p14:sldIdLst>
        </p14:section>
        <p14:section name="What is stored" id="{6fce8fa9-2806-71d3-1af4-d8ef82fd1b78}">
          <p14:sldIdLst/>
        </p14:section>
        <p14:section name="Where it stands" id="{9214ce95-49e4-65a3-fc95-dfb1b0fbbcc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in the first minute: every sheet now lands in one database in a shape you can query, and nothing counts as data until three people have signed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tracks do not share a table. A Development row and a Services row describe different things, so forcing them together would mean a column that is null for half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three stages: the vertical head knows the project, the admin checks it against the other projects, and the CTO signs for the appraisal. Each one is recorded with a name, a timestamp and an optional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along the top, then the three sign-offs underneath, then the two ways it can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people ask here is why the rows go in before approval. Because the reviewer has to see what actually landed in the database, not what the file looked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asks what was actually built, this is the slide. Every one of these is a working screen,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D1B3E"/>
        </a:solidFill>
        <a:effectLst/>
      </p:bgPr>
    </p:bg>
    <p:spTree>
      <p:nvGrpSpPr>
        <p:cNvPr id="1" name=""/>
        <p:cNvGrpSpPr/>
        <p:nvPr/>
      </p:nvGrpSpPr>
      <p:grpSpPr>
        <a:xfrm>
          <a:off x="0" y="0"/>
          <a:ext cx="0" cy="0"/>
          <a:chOff x="0" y="0"/>
          <a:chExt cx="0" cy="0"/>
        </a:xfrm>
      </p:grpSpPr>
      <p:sp>
        <p:nvSpPr>
          <p:cNvPr id="2" name="Text 0"/>
          <p:cNvSpPr/>
          <p:nvPr>
            <p:ph type="body" idx="100" hasCustomPrompt="1"/>
          </p:nvPr>
        </p:nvSpPr>
        <p:spPr>
          <a:xfrm>
            <a:off x="548640" y="1005840"/>
            <a:ext cx="11064240" cy="365760"/>
          </a:xfrm>
          <a:prstGeom prst="rect">
            <a:avLst/>
          </a:prstGeom>
          <a:noFill/>
        </p:spPr>
        <p:txBody>
          <a:bodyPr wrap="square" rtlCol="0"/>
          <a:lstStyle>
            <a:lvl1pPr marL="0" indent="0">
              <a:buNone/>
              <a:defRPr lang="en-US" sz="1300" b="1" kern="0" spc="300" dirty="0">
                <a:solidFill>
                  <a:srgbClr val="8FA8DC"/>
                </a:solidFill>
              </a:defRPr>
            </a:lvl1pPr>
          </a:lstStyle>
          <a:p>
            <a:pPr marL="0" indent="0">
              <a:buNone/>
            </a:pPr>
            <a:r>
              <a:rPr lang="en-US" sz="1300" b="1" kern="0" spc="300" dirty="0">
                <a:solidFill>
                  <a:srgbClr val="8FA8DC"/>
                </a:solidFill>
              </a:rPr>
              <a:t> </a:t>
            </a:r>
            <a:endParaRPr lang="en-US" sz="1300" dirty="0"/>
          </a:p>
        </p:txBody>
      </p:sp>
      <p:sp>
        <p:nvSpPr>
          <p:cNvPr id="3" name="Text 0"/>
          <p:cNvSpPr/>
          <p:nvPr>
            <p:ph type="title" idx="101" hasCustomPrompt="1"/>
          </p:nvPr>
        </p:nvSpPr>
        <p:spPr>
          <a:xfrm>
            <a:off x="548640" y="1737360"/>
            <a:ext cx="11064240" cy="1737360"/>
          </a:xfrm>
          <a:prstGeom prst="rect">
            <a:avLst/>
          </a:prstGeom>
          <a:noFill/>
        </p:spPr>
        <p:txBody>
          <a:bodyPr wrap="square" rtlCol="0"/>
          <a:lstStyle>
            <a:lvl1pPr marL="0" indent="0" algn="l">
              <a:buNone/>
              <a:defRPr lang="en-US" sz="5400" b="1" dirty="0">
                <a:solidFill>
                  <a:srgbClr val="FFFFFF"/>
                </a:solidFill>
              </a:defRPr>
            </a:lvl1pPr>
          </a:lstStyle>
          <a:p>
            <a:pPr marL="0" indent="0" algn="l">
              <a:buNone/>
            </a:pPr>
            <a:r>
              <a:rPr lang="en-US" sz="5400" b="1" dirty="0">
                <a:solidFill>
                  <a:srgbClr val="FFFFFF"/>
                </a:solidFill>
              </a:rPr>
              <a:t> </a:t>
            </a:r>
            <a:endParaRPr lang="en-US" sz="5400" dirty="0"/>
          </a:p>
        </p:txBody>
      </p:sp>
      <p:sp>
        <p:nvSpPr>
          <p:cNvPr id="4" name="Text 0"/>
          <p:cNvSpPr/>
          <p:nvPr>
            <p:ph type="body" idx="102" hasCustomPrompt="1"/>
          </p:nvPr>
        </p:nvSpPr>
        <p:spPr>
          <a:xfrm>
            <a:off x="548640" y="3291840"/>
            <a:ext cx="8778240" cy="1188720"/>
          </a:xfrm>
          <a:prstGeom prst="rect">
            <a:avLst/>
          </a:prstGeom>
          <a:noFill/>
        </p:spPr>
        <p:txBody>
          <a:bodyPr wrap="square" rtlCol="0"/>
          <a:lstStyle>
            <a:lvl1pPr marL="0" indent="0">
              <a:buNone/>
              <a:defRPr lang="en-US" sz="1700" dirty="0">
                <a:solidFill>
                  <a:srgbClr val="BFD0EE"/>
                </a:solidFill>
              </a:defRPr>
            </a:lvl1pPr>
          </a:lstStyle>
          <a:p>
            <a:pPr marL="0" indent="0">
              <a:buNone/>
            </a:pPr>
            <a:r>
              <a:rPr lang="en-US" sz="1700" dirty="0">
                <a:solidFill>
                  <a:srgbClr val="BFD0EE"/>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D1B3E"/>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lstStyle>
            <a:lvl1pPr marL="0" indent="0" algn="l">
              <a:buNone/>
              <a:defRPr lang="en-US" sz="3400" b="1" dirty="0">
                <a:solidFill>
                  <a:srgbClr val="FFFFFF"/>
                </a:solidFill>
              </a:defRPr>
            </a:lvl1pPr>
          </a:lstStyle>
          <a:p>
            <a:pPr marL="0" indent="0" algn="l">
              <a:buNone/>
            </a:pPr>
            <a:r>
              <a:rPr lang="en-US" sz="3400" b="1" dirty="0">
                <a:solidFill>
                  <a:srgbClr val="FFFFFF"/>
                </a:solidFill>
              </a:rPr>
              <a:t> </a:t>
            </a:r>
            <a:endParaRPr lang="en-US" sz="3400" dirty="0"/>
          </a:p>
        </p:txBody>
      </p:sp>
      <p:sp>
        <p:nvSpPr>
          <p:cNvPr id="2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FA8DC"/>
                </a:solidFill>
              </a:defRPr>
            </a:lvl1pPr>
          </a:lstStyle>
          <a:p>
            <a:pPr algn="l"/>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lstStyle>
            <a:lvl1pPr marL="0" indent="0" algn="l">
              <a:buNone/>
              <a:defRPr lang="en-US" sz="3400" b="1" dirty="0">
                <a:solidFill>
                  <a:srgbClr val="0D1B3E"/>
                </a:solidFill>
              </a:defRPr>
            </a:lvl1pPr>
          </a:lstStyle>
          <a:p>
            <a:pPr marL="0" indent="0" algn="l">
              <a:buNone/>
            </a:pPr>
            <a:r>
              <a:rPr lang="en-US" sz="3400" b="1" dirty="0">
                <a:solidFill>
                  <a:srgbClr val="0D1B3E"/>
                </a:solidFill>
              </a:rPr>
              <a:t> </a:t>
            </a:r>
            <a:endParaRPr lang="en-US" sz="3400" dirty="0"/>
          </a:p>
        </p:txBody>
      </p:sp>
      <p:sp>
        <p:nvSpPr>
          <p:cNvPr id="2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NT">
    <p:bg>
      <p:bgPr>
        <a:solidFill>
          <a:srgbClr val="F4F6FA"/>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lstStyle>
            <a:lvl1pPr marL="0" indent="0" algn="l">
              <a:buNone/>
              <a:defRPr lang="en-US" sz="3400" b="1" dirty="0">
                <a:solidFill>
                  <a:srgbClr val="0D1B3E"/>
                </a:solidFill>
              </a:defRPr>
            </a:lvl1pPr>
          </a:lstStyle>
          <a:p>
            <a:pPr marL="0" indent="0" algn="l">
              <a:buNone/>
            </a:pPr>
            <a:r>
              <a:rPr lang="en-US" sz="3400" b="1" dirty="0">
                <a:solidFill>
                  <a:srgbClr val="0D1B3E"/>
                </a:solidFill>
              </a:rPr>
              <a:t> </a:t>
            </a:r>
            <a:endParaRPr lang="en-US" sz="3400" dirty="0"/>
          </a:p>
        </p:txBody>
      </p:sp>
      <p:sp>
        <p:nvSpPr>
          <p:cNvPr id="2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FA8DC"/>
                </a:solidFill>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1005840"/>
            <a:ext cx="11064240" cy="365760"/>
          </a:xfrm>
          <a:prstGeom prst="rect">
            <a:avLst/>
          </a:prstGeom>
          <a:noFill/>
        </p:spPr>
        <p:txBody>
          <a:bodyPr wrap="square" rtlCol="0"/>
          <a:lstStyle/>
          <a:p>
            <a:pPr marL="0" indent="0">
              <a:buNone/>
            </a:pPr>
            <a:r>
              <a:rPr lang="en-US" sz="1300" b="1" kern="0" spc="300" dirty="0">
                <a:solidFill>
                  <a:srgbClr val="8FA8DC"/>
                </a:solidFill>
              </a:rPr>
              <a:t>CSC  ·  QUALITY MANAGEMENT</a:t>
            </a:r>
            <a:endParaRPr lang="en-US" sz="1300" dirty="0"/>
          </a:p>
        </p:txBody>
      </p:sp>
      <p:sp>
        <p:nvSpPr>
          <p:cNvPr id="3" name="Text 0"/>
          <p:cNvSpPr/>
          <p:nvPr>
            <p:ph type="title" idx="101" hasCustomPrompt="1"/>
          </p:nvPr>
        </p:nvSpPr>
        <p:spPr>
          <a:xfrm>
            <a:off x="548640" y="1737360"/>
            <a:ext cx="11064240" cy="1737360"/>
          </a:xfrm>
          <a:prstGeom prst="rect">
            <a:avLst/>
          </a:prstGeom>
          <a:noFill/>
        </p:spPr>
        <p:txBody>
          <a:bodyPr wrap="square" rtlCol="0" anchor="t"/>
          <a:lstStyle/>
          <a:p>
            <a:pPr marL="0" indent="0" algn="l">
              <a:buNone/>
            </a:pPr>
            <a:r>
              <a:rPr lang="en-US" sz="5400" b="1" dirty="0">
                <a:solidFill>
                  <a:srgbClr val="FFFFFF"/>
                </a:solidFill>
              </a:rPr>
              <a:t>CMMI Data Repository</a:t>
            </a:r>
            <a:endParaRPr lang="en-US" sz="5400" dirty="0"/>
          </a:p>
        </p:txBody>
      </p:sp>
      <p:sp>
        <p:nvSpPr>
          <p:cNvPr id="4" name="Text 0"/>
          <p:cNvSpPr/>
          <p:nvPr>
            <p:ph type="body" idx="102" hasCustomPrompt="1"/>
          </p:nvPr>
        </p:nvSpPr>
        <p:spPr>
          <a:xfrm>
            <a:off x="548640" y="3291840"/>
            <a:ext cx="8778240" cy="1188720"/>
          </a:xfrm>
          <a:prstGeom prst="rect">
            <a:avLst/>
          </a:prstGeom>
          <a:noFill/>
        </p:spPr>
        <p:txBody>
          <a:bodyPr wrap="square" rtlCol="0"/>
          <a:lstStyle/>
          <a:p>
            <a:pPr marL="0" indent="0">
              <a:buNone/>
            </a:pPr>
            <a:r>
              <a:rPr lang="en-US" sz="1700" dirty="0">
                <a:solidFill>
                  <a:srgbClr val="BFD0EE"/>
                </a:solidFill>
              </a:rPr>
              <a:t>Every data collection sheet from both appraisal tracks is already uploaded and parsed into real columns — signed off by three people, and ready to query.</a:t>
            </a:r>
            <a:endParaRPr lang="en-US" sz="1700" dirty="0"/>
          </a:p>
        </p:txBody>
      </p:sp>
      <p:sp>
        <p:nvSpPr>
          <p:cNvPr id="5" name="stat-0"/>
          <p:cNvSpPr txBox="1"/>
          <p:nvPr/>
        </p:nvSpPr>
        <p:spPr>
          <a:xfrm>
            <a:off x="548640" y="5029200"/>
            <a:ext cx="256032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6" name="Text 4"/>
          <p:cNvSpPr txBox="1"/>
          <p:nvPr/>
        </p:nvSpPr>
        <p:spPr>
          <a:xfrm>
            <a:off x="548640" y="5577840"/>
            <a:ext cx="2560320" cy="365760"/>
          </a:xfrm>
          <a:prstGeom prst="rect">
            <a:avLst/>
          </a:prstGeom>
          <a:noFill/>
        </p:spPr>
        <p:txBody>
          <a:bodyPr wrap="square" lIns="0" tIns="0" rIns="0" bIns="0" rtlCol="0" anchor="ctr"/>
          <a:lstStyle/>
          <a:p>
            <a:pPr marL="0" indent="0">
              <a:buNone/>
            </a:pPr>
            <a:r>
              <a:rPr lang="en-US" sz="1200" dirty="0">
                <a:solidFill>
                  <a:srgbClr val="8FA8DC"/>
                </a:solidFill>
              </a:rPr>
              <a:t>Development projects</a:t>
            </a:r>
            <a:endParaRPr lang="en-US" sz="1200" dirty="0"/>
          </a:p>
        </p:txBody>
      </p:sp>
      <p:sp>
        <p:nvSpPr>
          <p:cNvPr id="7" name="stat-1"/>
          <p:cNvSpPr txBox="1"/>
          <p:nvPr/>
        </p:nvSpPr>
        <p:spPr>
          <a:xfrm>
            <a:off x="3337560" y="5029200"/>
            <a:ext cx="256032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8" name="Text 6"/>
          <p:cNvSpPr txBox="1"/>
          <p:nvPr/>
        </p:nvSpPr>
        <p:spPr>
          <a:xfrm>
            <a:off x="3337560" y="5577840"/>
            <a:ext cx="2560320" cy="365760"/>
          </a:xfrm>
          <a:prstGeom prst="rect">
            <a:avLst/>
          </a:prstGeom>
          <a:noFill/>
        </p:spPr>
        <p:txBody>
          <a:bodyPr wrap="square" lIns="0" tIns="0" rIns="0" bIns="0" rtlCol="0" anchor="ctr"/>
          <a:lstStyle/>
          <a:p>
            <a:pPr marL="0" indent="0">
              <a:buNone/>
            </a:pPr>
            <a:r>
              <a:rPr lang="en-US" sz="1200" dirty="0">
                <a:solidFill>
                  <a:srgbClr val="8FA8DC"/>
                </a:solidFill>
              </a:rPr>
              <a:t>Services projects</a:t>
            </a:r>
            <a:endParaRPr lang="en-US" sz="1200" dirty="0"/>
          </a:p>
        </p:txBody>
      </p:sp>
      <p:sp>
        <p:nvSpPr>
          <p:cNvPr id="9" name="stat-2"/>
          <p:cNvSpPr txBox="1"/>
          <p:nvPr/>
        </p:nvSpPr>
        <p:spPr>
          <a:xfrm>
            <a:off x="6126480" y="5029200"/>
            <a:ext cx="256032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51</a:t>
            </a:r>
            <a:endParaRPr lang="en-US" sz="3000" dirty="0"/>
          </a:p>
        </p:txBody>
      </p:sp>
      <p:sp>
        <p:nvSpPr>
          <p:cNvPr id="10" name="Text 8"/>
          <p:cNvSpPr txBox="1"/>
          <p:nvPr/>
        </p:nvSpPr>
        <p:spPr>
          <a:xfrm>
            <a:off x="6126480" y="5577840"/>
            <a:ext cx="2560320" cy="365760"/>
          </a:xfrm>
          <a:prstGeom prst="rect">
            <a:avLst/>
          </a:prstGeom>
          <a:noFill/>
        </p:spPr>
        <p:txBody>
          <a:bodyPr wrap="square" lIns="0" tIns="0" rIns="0" bIns="0" rtlCol="0" anchor="ctr"/>
          <a:lstStyle/>
          <a:p>
            <a:pPr marL="0" indent="0">
              <a:buNone/>
            </a:pPr>
            <a:r>
              <a:rPr lang="en-US" sz="1200" dirty="0">
                <a:solidFill>
                  <a:srgbClr val="8FA8DC"/>
                </a:solidFill>
              </a:rPr>
              <a:t>Sheets already uploaded</a:t>
            </a:r>
            <a:endParaRPr lang="en-US" sz="1200" dirty="0"/>
          </a:p>
        </p:txBody>
      </p:sp>
      <p:sp>
        <p:nvSpPr>
          <p:cNvPr id="11" name="stat-3"/>
          <p:cNvSpPr txBox="1"/>
          <p:nvPr/>
        </p:nvSpPr>
        <p:spPr>
          <a:xfrm>
            <a:off x="8915400" y="5029200"/>
            <a:ext cx="256032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31,206</a:t>
            </a:r>
            <a:endParaRPr lang="en-US" sz="3000" dirty="0"/>
          </a:p>
        </p:txBody>
      </p:sp>
      <p:sp>
        <p:nvSpPr>
          <p:cNvPr id="12" name="Text 10"/>
          <p:cNvSpPr txBox="1"/>
          <p:nvPr/>
        </p:nvSpPr>
        <p:spPr>
          <a:xfrm>
            <a:off x="8915400" y="5577840"/>
            <a:ext cx="2560320" cy="365760"/>
          </a:xfrm>
          <a:prstGeom prst="rect">
            <a:avLst/>
          </a:prstGeom>
          <a:noFill/>
        </p:spPr>
        <p:txBody>
          <a:bodyPr wrap="square" lIns="0" tIns="0" rIns="0" bIns="0" rtlCol="0" anchor="ctr"/>
          <a:lstStyle/>
          <a:p>
            <a:pPr marL="0" indent="0">
              <a:buNone/>
            </a:pPr>
            <a:r>
              <a:rPr lang="en-US" sz="1200" dirty="0">
                <a:solidFill>
                  <a:srgbClr val="8FA8DC"/>
                </a:solidFill>
              </a:rPr>
              <a:t>Rows you can query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nchor="t"/>
          <a:lstStyle/>
          <a:p>
            <a:pPr marL="0" indent="0" algn="l">
              <a:buNone/>
            </a:pPr>
            <a:r>
              <a:rPr lang="en-US" sz="3400" b="1" dirty="0">
                <a:solidFill>
                  <a:srgbClr val="0D1B3E"/>
                </a:solidFill>
              </a:rPr>
              <a:t>Two tracks, eleven projects, one database</a:t>
            </a:r>
            <a:endParaRPr lang="en-US" sz="3400" dirty="0"/>
          </a:p>
        </p:txBody>
      </p:sp>
      <p:sp>
        <p:nvSpPr>
          <p:cNvPr id="3" name="track-0"/>
          <p:cNvSpPr/>
          <p:nvPr/>
        </p:nvSpPr>
        <p:spPr>
          <a:xfrm>
            <a:off x="548640" y="1463040"/>
            <a:ext cx="5394960" cy="4480560"/>
          </a:xfrm>
          <a:prstGeom prst="roundRect">
            <a:avLst>
              <a:gd name="adj" fmla="val 2041"/>
            </a:avLst>
          </a:prstGeom>
          <a:solidFill>
            <a:srgbClr val="FFFFFF"/>
          </a:solidFill>
          <a:ln w="12700">
            <a:solidFill>
              <a:srgbClr val="DDE1E9"/>
            </a:solidFill>
            <a:prstDash val="solid"/>
          </a:ln>
        </p:spPr>
      </p:sp>
      <p:sp>
        <p:nvSpPr>
          <p:cNvPr id="4" name="Text 2"/>
          <p:cNvSpPr txBox="1"/>
          <p:nvPr/>
        </p:nvSpPr>
        <p:spPr>
          <a:xfrm>
            <a:off x="868680" y="1691640"/>
            <a:ext cx="4754880" cy="274320"/>
          </a:xfrm>
          <a:prstGeom prst="rect">
            <a:avLst/>
          </a:prstGeom>
          <a:noFill/>
        </p:spPr>
        <p:txBody>
          <a:bodyPr wrap="square" lIns="0" tIns="0" rIns="0" bIns="0" rtlCol="0" anchor="ctr"/>
          <a:lstStyle/>
          <a:p>
            <a:pPr marL="0" indent="0">
              <a:buNone/>
            </a:pPr>
            <a:r>
              <a:rPr lang="en-US" sz="1200" b="1" kern="0" spc="200" dirty="0">
                <a:solidFill>
                  <a:srgbClr val="2563EB"/>
                </a:solidFill>
              </a:rPr>
              <a:t>CMMI ML 5.0</a:t>
            </a:r>
            <a:endParaRPr lang="en-US" sz="1200" dirty="0"/>
          </a:p>
        </p:txBody>
      </p:sp>
      <p:sp>
        <p:nvSpPr>
          <p:cNvPr id="5" name="Text 3"/>
          <p:cNvSpPr txBox="1"/>
          <p:nvPr/>
        </p:nvSpPr>
        <p:spPr>
          <a:xfrm>
            <a:off x="868680" y="2011680"/>
            <a:ext cx="4754880" cy="457200"/>
          </a:xfrm>
          <a:prstGeom prst="rect">
            <a:avLst/>
          </a:prstGeom>
          <a:noFill/>
        </p:spPr>
        <p:txBody>
          <a:bodyPr wrap="square" lIns="0" tIns="0" rIns="0" bIns="0" rtlCol="0" anchor="ctr"/>
          <a:lstStyle/>
          <a:p>
            <a:pPr marL="0" indent="0">
              <a:buNone/>
            </a:pPr>
            <a:r>
              <a:rPr lang="en-US" sz="2600" b="1" dirty="0">
                <a:solidFill>
                  <a:srgbClr val="0D1B3E"/>
                </a:solidFill>
                <a:latin typeface="Cambria" pitchFamily="34" charset="0"/>
                <a:ea typeface="Cambria" pitchFamily="34" charset="-122"/>
                <a:cs typeface="Cambria" pitchFamily="34" charset="-120"/>
              </a:rPr>
              <a:t>Development</a:t>
            </a:r>
            <a:endParaRPr lang="en-US" sz="2600" dirty="0"/>
          </a:p>
        </p:txBody>
      </p:sp>
      <p:sp>
        <p:nvSpPr>
          <p:cNvPr id="6" name="Text 4"/>
          <p:cNvSpPr txBox="1"/>
          <p:nvPr/>
        </p:nvSpPr>
        <p:spPr>
          <a:xfrm>
            <a:off x="868680" y="2542032"/>
            <a:ext cx="4754880" cy="457200"/>
          </a:xfrm>
          <a:prstGeom prst="rect">
            <a:avLst/>
          </a:prstGeom>
          <a:noFill/>
        </p:spPr>
        <p:txBody>
          <a:bodyPr wrap="square" lIns="0" tIns="0" rIns="0" bIns="0" rtlCol="0" anchor="ctr"/>
          <a:lstStyle/>
          <a:p>
            <a:pPr marL="0" indent="0">
              <a:buNone/>
            </a:pPr>
            <a:r>
              <a:rPr lang="en-US" sz="1300" dirty="0">
                <a:solidFill>
                  <a:srgbClr val="4A5568"/>
                </a:solidFill>
              </a:rPr>
              <a:t>One row per module, change request or use case — 43 data columns.</a:t>
            </a:r>
            <a:endParaRPr lang="en-US" sz="1300" dirty="0"/>
          </a:p>
        </p:txBody>
      </p:sp>
      <p:sp>
        <p:nvSpPr>
          <p:cNvPr id="7" name="Text 5"/>
          <p:cNvSpPr txBox="1"/>
          <p:nvPr/>
        </p:nvSpPr>
        <p:spPr>
          <a:xfrm>
            <a:off x="868680" y="3108960"/>
            <a:ext cx="4754880" cy="2651760"/>
          </a:xfrm>
          <a:prstGeom prst="rect">
            <a:avLst/>
          </a:prstGeom>
          <a:noFill/>
        </p:spPr>
        <p:txBody>
          <a:bodyPr wrap="square" lIns="0" tIns="0" rIns="0" bIns="0" rtlCol="0" anchor="ctr"/>
          <a:lstStyle/>
          <a:p>
            <a:pPr marL="342900" indent="-342900">
              <a:spcAft>
                <a:spcPts val="600"/>
              </a:spcAft>
              <a:buSzPct val="100000"/>
              <a:buChar char="•"/>
            </a:pPr>
            <a:r>
              <a:rPr lang="en-US" sz="1450" dirty="0">
                <a:solidFill>
                  <a:srgbClr val="0D1B3E"/>
                </a:solidFill>
              </a:rPr>
              <a:t>CCTNS</a:t>
            </a:r>
            <a:endParaRPr lang="en-US" sz="1450" dirty="0"/>
          </a:p>
          <a:p>
            <a:pPr marL="342900" indent="-342900">
              <a:spcAft>
                <a:spcPts val="600"/>
              </a:spcAft>
              <a:buSzPct val="100000"/>
              <a:buChar char="•"/>
            </a:pPr>
            <a:r>
              <a:rPr lang="en-US" sz="1450" dirty="0">
                <a:solidFill>
                  <a:srgbClr val="0D1B3E"/>
                </a:solidFill>
              </a:rPr>
              <a:t>CIBIL</a:t>
            </a:r>
            <a:endParaRPr lang="en-US" sz="1450" dirty="0"/>
          </a:p>
          <a:p>
            <a:pPr marL="342900" indent="-342900">
              <a:spcAft>
                <a:spcPts val="600"/>
              </a:spcAft>
              <a:buSzPct val="100000"/>
              <a:buChar char="•"/>
            </a:pPr>
            <a:r>
              <a:rPr lang="en-US" sz="1450" dirty="0">
                <a:solidFill>
                  <a:srgbClr val="0D1B3E"/>
                </a:solidFill>
              </a:rPr>
              <a:t>CSC Safar (Air Tourism &amp; Travel)</a:t>
            </a:r>
            <a:endParaRPr lang="en-US" sz="1450" dirty="0"/>
          </a:p>
          <a:p>
            <a:pPr marL="342900" indent="-342900">
              <a:spcAft>
                <a:spcPts val="600"/>
              </a:spcAft>
              <a:buSzPct val="100000"/>
              <a:buChar char="•"/>
            </a:pPr>
            <a:r>
              <a:rPr lang="en-US" sz="1450" dirty="0">
                <a:solidFill>
                  <a:srgbClr val="0D1B3E"/>
                </a:solidFill>
              </a:rPr>
              <a:t>Digipay</a:t>
            </a:r>
            <a:endParaRPr lang="en-US" sz="1450" dirty="0"/>
          </a:p>
          <a:p>
            <a:pPr marL="342900" indent="-342900">
              <a:spcAft>
                <a:spcPts val="600"/>
              </a:spcAft>
              <a:buSzPct val="100000"/>
              <a:buChar char="•"/>
            </a:pPr>
            <a:r>
              <a:rPr lang="en-US" sz="1450" dirty="0">
                <a:solidFill>
                  <a:srgbClr val="0D1B3E"/>
                </a:solidFill>
              </a:rPr>
              <a:t>NFDP (Fisheries)</a:t>
            </a:r>
            <a:endParaRPr lang="en-US" sz="1450" dirty="0"/>
          </a:p>
          <a:p>
            <a:pPr marL="342900" indent="-342900">
              <a:spcAft>
                <a:spcPts val="600"/>
              </a:spcAft>
              <a:buSzPct val="100000"/>
              <a:buChar char="•"/>
            </a:pPr>
            <a:r>
              <a:rPr lang="en-US" sz="1450" dirty="0">
                <a:solidFill>
                  <a:srgbClr val="0D1B3E"/>
                </a:solidFill>
              </a:rPr>
              <a:t>Sales Force CRM</a:t>
            </a:r>
            <a:endParaRPr lang="en-US" sz="1450" dirty="0"/>
          </a:p>
        </p:txBody>
      </p:sp>
      <p:sp>
        <p:nvSpPr>
          <p:cNvPr id="8" name="track-1"/>
          <p:cNvSpPr/>
          <p:nvPr/>
        </p:nvSpPr>
        <p:spPr>
          <a:xfrm>
            <a:off x="6217920" y="1463040"/>
            <a:ext cx="5394960" cy="4480560"/>
          </a:xfrm>
          <a:prstGeom prst="roundRect">
            <a:avLst>
              <a:gd name="adj" fmla="val 2041"/>
            </a:avLst>
          </a:prstGeom>
          <a:solidFill>
            <a:srgbClr val="FFFFFF"/>
          </a:solidFill>
          <a:ln w="12700">
            <a:solidFill>
              <a:srgbClr val="DDE1E9"/>
            </a:solidFill>
            <a:prstDash val="solid"/>
          </a:ln>
        </p:spPr>
      </p:sp>
      <p:sp>
        <p:nvSpPr>
          <p:cNvPr id="9" name="Text 7"/>
          <p:cNvSpPr txBox="1"/>
          <p:nvPr/>
        </p:nvSpPr>
        <p:spPr>
          <a:xfrm>
            <a:off x="6537960" y="1691640"/>
            <a:ext cx="4754880" cy="274320"/>
          </a:xfrm>
          <a:prstGeom prst="rect">
            <a:avLst/>
          </a:prstGeom>
          <a:noFill/>
        </p:spPr>
        <p:txBody>
          <a:bodyPr wrap="square" lIns="0" tIns="0" rIns="0" bIns="0" rtlCol="0" anchor="ctr"/>
          <a:lstStyle/>
          <a:p>
            <a:pPr marL="0" indent="0">
              <a:buNone/>
            </a:pPr>
            <a:r>
              <a:rPr lang="en-US" sz="1200" b="1" kern="0" spc="200" dirty="0">
                <a:solidFill>
                  <a:srgbClr val="17663A"/>
                </a:solidFill>
              </a:rPr>
              <a:t>CMMI ML 3.0</a:t>
            </a:r>
            <a:endParaRPr lang="en-US" sz="1200" dirty="0"/>
          </a:p>
        </p:txBody>
      </p:sp>
      <p:sp>
        <p:nvSpPr>
          <p:cNvPr id="10" name="Text 8"/>
          <p:cNvSpPr txBox="1"/>
          <p:nvPr/>
        </p:nvSpPr>
        <p:spPr>
          <a:xfrm>
            <a:off x="6537960" y="2011680"/>
            <a:ext cx="4754880" cy="457200"/>
          </a:xfrm>
          <a:prstGeom prst="rect">
            <a:avLst/>
          </a:prstGeom>
          <a:noFill/>
        </p:spPr>
        <p:txBody>
          <a:bodyPr wrap="square" lIns="0" tIns="0" rIns="0" bIns="0" rtlCol="0" anchor="ctr"/>
          <a:lstStyle/>
          <a:p>
            <a:pPr marL="0" indent="0">
              <a:buNone/>
            </a:pPr>
            <a:r>
              <a:rPr lang="en-US" sz="2600" b="1" dirty="0">
                <a:solidFill>
                  <a:srgbClr val="0D1B3E"/>
                </a:solidFill>
                <a:latin typeface="Cambria" pitchFamily="34" charset="0"/>
                <a:ea typeface="Cambria" pitchFamily="34" charset="-122"/>
                <a:cs typeface="Cambria" pitchFamily="34" charset="-120"/>
              </a:rPr>
              <a:t>Services</a:t>
            </a:r>
            <a:endParaRPr lang="en-US" sz="2600" dirty="0"/>
          </a:p>
        </p:txBody>
      </p:sp>
      <p:sp>
        <p:nvSpPr>
          <p:cNvPr id="11" name="Text 9"/>
          <p:cNvSpPr txBox="1"/>
          <p:nvPr/>
        </p:nvSpPr>
        <p:spPr>
          <a:xfrm>
            <a:off x="6537960" y="2542032"/>
            <a:ext cx="4754880" cy="457200"/>
          </a:xfrm>
          <a:prstGeom prst="rect">
            <a:avLst/>
          </a:prstGeom>
          <a:noFill/>
        </p:spPr>
        <p:txBody>
          <a:bodyPr wrap="square" lIns="0" tIns="0" rIns="0" bIns="0" rtlCol="0" anchor="ctr"/>
          <a:lstStyle/>
          <a:p>
            <a:pPr marL="0" indent="0">
              <a:buNone/>
            </a:pPr>
            <a:r>
              <a:rPr lang="en-US" sz="1300" dirty="0">
                <a:solidFill>
                  <a:srgbClr val="4A5568"/>
                </a:solidFill>
              </a:rPr>
              <a:t>One row per ticket — 21 data columns.</a:t>
            </a:r>
            <a:endParaRPr lang="en-US" sz="1300" dirty="0"/>
          </a:p>
        </p:txBody>
      </p:sp>
      <p:sp>
        <p:nvSpPr>
          <p:cNvPr id="12" name="Text 10"/>
          <p:cNvSpPr txBox="1"/>
          <p:nvPr/>
        </p:nvSpPr>
        <p:spPr>
          <a:xfrm>
            <a:off x="6537960" y="3108960"/>
            <a:ext cx="4754880" cy="2651760"/>
          </a:xfrm>
          <a:prstGeom prst="rect">
            <a:avLst/>
          </a:prstGeom>
          <a:noFill/>
        </p:spPr>
        <p:txBody>
          <a:bodyPr wrap="square" lIns="0" tIns="0" rIns="0" bIns="0" rtlCol="0" anchor="ctr"/>
          <a:lstStyle/>
          <a:p>
            <a:pPr marL="342900" indent="-342900">
              <a:spcAft>
                <a:spcPts val="600"/>
              </a:spcAft>
              <a:buSzPct val="100000"/>
              <a:buChar char="•"/>
            </a:pPr>
            <a:r>
              <a:rPr lang="en-US" sz="1450" dirty="0">
                <a:solidFill>
                  <a:srgbClr val="0D1B3E"/>
                </a:solidFill>
              </a:rPr>
              <a:t>CSC Safar (IRCTC)</a:t>
            </a:r>
            <a:endParaRPr lang="en-US" sz="1450" dirty="0"/>
          </a:p>
          <a:p>
            <a:pPr marL="342900" indent="-342900">
              <a:spcAft>
                <a:spcPts val="600"/>
              </a:spcAft>
              <a:buSzPct val="100000"/>
              <a:buChar char="•"/>
            </a:pPr>
            <a:r>
              <a:rPr lang="en-US" sz="1450" dirty="0">
                <a:solidFill>
                  <a:srgbClr val="0D1B3E"/>
                </a:solidFill>
              </a:rPr>
              <a:t>DSP e-district</a:t>
            </a:r>
            <a:endParaRPr lang="en-US" sz="1450" dirty="0"/>
          </a:p>
          <a:p>
            <a:pPr marL="342900" indent="-342900">
              <a:spcAft>
                <a:spcPts val="600"/>
              </a:spcAft>
              <a:buSzPct val="100000"/>
              <a:buChar char="•"/>
            </a:pPr>
            <a:r>
              <a:rPr lang="en-US" sz="1450" dirty="0">
                <a:solidFill>
                  <a:srgbClr val="0D1B3E"/>
                </a:solidFill>
              </a:rPr>
              <a:t>DSP electricity</a:t>
            </a:r>
            <a:endParaRPr lang="en-US" sz="1450" dirty="0"/>
          </a:p>
          <a:p>
            <a:pPr marL="342900" indent="-342900">
              <a:spcAft>
                <a:spcPts val="600"/>
              </a:spcAft>
              <a:buSzPct val="100000"/>
              <a:buChar char="•"/>
            </a:pPr>
            <a:r>
              <a:rPr lang="en-US" sz="1450" dirty="0">
                <a:solidFill>
                  <a:srgbClr val="0D1B3E"/>
                </a:solidFill>
              </a:rPr>
              <a:t>Insurance</a:t>
            </a:r>
            <a:endParaRPr lang="en-US" sz="1450" dirty="0"/>
          </a:p>
          <a:p>
            <a:pPr marL="342900" indent="-342900">
              <a:spcAft>
                <a:spcPts val="600"/>
              </a:spcAft>
              <a:buSzPct val="100000"/>
              <a:buChar char="•"/>
            </a:pPr>
            <a:r>
              <a:rPr lang="en-US" sz="1450" dirty="0">
                <a:solidFill>
                  <a:srgbClr val="0D1B3E"/>
                </a:solidFill>
              </a:rPr>
              <a:t>Public Sector Banking</a:t>
            </a:r>
            <a:endParaRPr lang="en-US" sz="1450" dirty="0"/>
          </a:p>
        </p:txBody>
      </p:sp>
      <p:sp>
        <p:nvSpPr>
          <p:cNvPr id="13" name="Text 11"/>
          <p:cNvSpPr txBox="1"/>
          <p:nvPr/>
        </p:nvSpPr>
        <p:spPr>
          <a:xfrm>
            <a:off x="548640" y="6080760"/>
            <a:ext cx="11064240" cy="320040"/>
          </a:xfrm>
          <a:prstGeom prst="rect">
            <a:avLst/>
          </a:prstGeom>
          <a:noFill/>
        </p:spPr>
        <p:txBody>
          <a:bodyPr wrap="square" lIns="0" tIns="0" rIns="0" bIns="0" rtlCol="0" anchor="ctr"/>
          <a:lstStyle/>
          <a:p>
            <a:pPr marL="0" indent="0">
              <a:buNone/>
            </a:pPr>
            <a:r>
              <a:rPr lang="en-US" sz="1100" dirty="0">
                <a:solidFill>
                  <a:srgbClr val="6A7179"/>
                </a:solidFill>
              </a:rPr>
              <a:t>ML 3 Artefacts of DSP is deliberately not a project — it holds test cases and tracking artefacts, not data collection sheets.</a:t>
            </a:r>
            <a:endParaRPr lang="en-US" sz="1100" dirty="0"/>
          </a:p>
        </p:txBody>
      </p:sp>
      <p:sp>
        <p:nvSpPr>
          <p:cNvPr id="2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nchor="t"/>
          <a:lstStyle/>
          <a:p>
            <a:pPr marL="0" indent="0" algn="l">
              <a:buNone/>
            </a:pPr>
            <a:r>
              <a:rPr lang="en-US" sz="3400" b="1" dirty="0">
                <a:solidFill>
                  <a:srgbClr val="0D1B3E"/>
                </a:solidFill>
              </a:rPr>
              <a:t>Application sign-offs role</a:t>
            </a:r>
            <a:endParaRPr lang="en-US" sz="3400" dirty="0"/>
          </a:p>
        </p:txBody>
      </p:sp>
      <p:sp>
        <p:nvSpPr>
          <p:cNvPr id="3" name="stage-0"/>
          <p:cNvSpPr/>
          <p:nvPr/>
        </p:nvSpPr>
        <p:spPr>
          <a:xfrm>
            <a:off x="548640" y="1737360"/>
            <a:ext cx="2468880" cy="1737360"/>
          </a:xfrm>
          <a:prstGeom prst="roundRect">
            <a:avLst>
              <a:gd name="adj" fmla="val 5263"/>
            </a:avLst>
          </a:prstGeom>
          <a:solidFill>
            <a:srgbClr val="FDF3E0"/>
          </a:solidFill>
          <a:ln w="15875">
            <a:solidFill>
              <a:srgbClr val="A06C0A"/>
            </a:solidFill>
            <a:prstDash val="solid"/>
          </a:ln>
        </p:spPr>
      </p:sp>
      <p:sp>
        <p:nvSpPr>
          <p:cNvPr id="4" name="Text 2"/>
          <p:cNvSpPr txBox="1"/>
          <p:nvPr/>
        </p:nvSpPr>
        <p:spPr>
          <a:xfrm>
            <a:off x="777240" y="1938528"/>
            <a:ext cx="2011680" cy="384048"/>
          </a:xfrm>
          <a:prstGeom prst="rect">
            <a:avLst/>
          </a:prstGeom>
          <a:noFill/>
        </p:spPr>
        <p:txBody>
          <a:bodyPr wrap="square" lIns="0" tIns="0" rIns="0" bIns="0" rtlCol="0" anchor="t"/>
          <a:lstStyle/>
          <a:p>
            <a:pPr marL="0" indent="0">
              <a:buNone/>
            </a:pPr>
            <a:r>
              <a:rPr lang="en-US" sz="1500" b="1" dirty="0">
                <a:solidFill>
                  <a:srgbClr val="A06C0A"/>
                </a:solidFill>
              </a:rPr>
              <a:t>Vertical Head</a:t>
            </a:r>
            <a:endParaRPr lang="en-US" sz="1500" dirty="0"/>
          </a:p>
        </p:txBody>
      </p:sp>
      <p:sp>
        <p:nvSpPr>
          <p:cNvPr id="5" name="Text 3"/>
          <p:cNvSpPr txBox="1"/>
          <p:nvPr/>
        </p:nvSpPr>
        <p:spPr>
          <a:xfrm>
            <a:off x="777240" y="2304288"/>
            <a:ext cx="2011680" cy="1005840"/>
          </a:xfrm>
          <a:prstGeom prst="rect">
            <a:avLst/>
          </a:prstGeom>
          <a:noFill/>
        </p:spPr>
        <p:txBody>
          <a:bodyPr wrap="square" lIns="0" tIns="0" rIns="0" bIns="0" rtlCol="0" anchor="t"/>
          <a:lstStyle/>
          <a:p>
            <a:pPr marL="0" indent="0">
              <a:buNone/>
            </a:pPr>
            <a:r>
              <a:rPr lang="en-US" sz="1250" dirty="0">
                <a:solidFill>
                  <a:srgbClr val="3C4557"/>
                </a:solidFill>
              </a:rPr>
              <a:t>Only for the projects assigned to them.</a:t>
            </a:r>
            <a:endParaRPr lang="en-US" sz="1250" dirty="0"/>
          </a:p>
        </p:txBody>
      </p:sp>
      <p:sp>
        <p:nvSpPr>
          <p:cNvPr id="6" name="arrow-0"/>
          <p:cNvSpPr/>
          <p:nvPr/>
        </p:nvSpPr>
        <p:spPr>
          <a:xfrm>
            <a:off x="3072384" y="2487168"/>
            <a:ext cx="237744" cy="237744"/>
          </a:xfrm>
          <a:prstGeom prst="rightArrow">
            <a:avLst/>
          </a:prstGeom>
          <a:solidFill>
            <a:srgbClr val="8FA0BE"/>
          </a:solidFill>
        </p:spPr>
      </p:sp>
      <p:sp>
        <p:nvSpPr>
          <p:cNvPr id="7" name="stage-1"/>
          <p:cNvSpPr/>
          <p:nvPr/>
        </p:nvSpPr>
        <p:spPr>
          <a:xfrm>
            <a:off x="3364992" y="1737360"/>
            <a:ext cx="2468880" cy="1737360"/>
          </a:xfrm>
          <a:prstGeom prst="roundRect">
            <a:avLst>
              <a:gd name="adj" fmla="val 5263"/>
            </a:avLst>
          </a:prstGeom>
          <a:solidFill>
            <a:srgbClr val="E4ECFB"/>
          </a:solidFill>
          <a:ln w="15875">
            <a:solidFill>
              <a:srgbClr val="2563EB"/>
            </a:solidFill>
            <a:prstDash val="solid"/>
          </a:ln>
        </p:spPr>
      </p:sp>
      <p:sp>
        <p:nvSpPr>
          <p:cNvPr id="8" name="Text 6"/>
          <p:cNvSpPr txBox="1"/>
          <p:nvPr/>
        </p:nvSpPr>
        <p:spPr>
          <a:xfrm>
            <a:off x="3593592" y="1938528"/>
            <a:ext cx="2011680" cy="384048"/>
          </a:xfrm>
          <a:prstGeom prst="rect">
            <a:avLst/>
          </a:prstGeom>
          <a:noFill/>
        </p:spPr>
        <p:txBody>
          <a:bodyPr wrap="square" lIns="0" tIns="0" rIns="0" bIns="0" rtlCol="0" anchor="t"/>
          <a:lstStyle/>
          <a:p>
            <a:pPr marL="0" indent="0">
              <a:buNone/>
            </a:pPr>
            <a:r>
              <a:rPr lang="en-US" sz="1500" b="1" dirty="0">
                <a:solidFill>
                  <a:srgbClr val="2563EB"/>
                </a:solidFill>
              </a:rPr>
              <a:t>Administrator</a:t>
            </a:r>
            <a:endParaRPr lang="en-US" sz="1500" dirty="0"/>
          </a:p>
        </p:txBody>
      </p:sp>
      <p:sp>
        <p:nvSpPr>
          <p:cNvPr id="9" name="Text 7"/>
          <p:cNvSpPr txBox="1"/>
          <p:nvPr/>
        </p:nvSpPr>
        <p:spPr>
          <a:xfrm>
            <a:off x="3593592" y="2304288"/>
            <a:ext cx="2011680" cy="1005840"/>
          </a:xfrm>
          <a:prstGeom prst="rect">
            <a:avLst/>
          </a:prstGeom>
          <a:noFill/>
        </p:spPr>
        <p:txBody>
          <a:bodyPr wrap="square" lIns="0" tIns="0" rIns="0" bIns="0" rtlCol="0" anchor="t"/>
          <a:lstStyle/>
          <a:p>
            <a:pPr marL="0" indent="0">
              <a:buNone/>
            </a:pPr>
            <a:r>
              <a:rPr lang="en-US" sz="1250" dirty="0">
                <a:solidFill>
                  <a:srgbClr val="3C4557"/>
                </a:solidFill>
              </a:rPr>
              <a:t>Any project. The only role that can delete.</a:t>
            </a:r>
            <a:endParaRPr lang="en-US" sz="1250" dirty="0"/>
          </a:p>
        </p:txBody>
      </p:sp>
      <p:sp>
        <p:nvSpPr>
          <p:cNvPr id="10" name="arrow-1"/>
          <p:cNvSpPr/>
          <p:nvPr/>
        </p:nvSpPr>
        <p:spPr>
          <a:xfrm>
            <a:off x="5888736" y="2487168"/>
            <a:ext cx="237744" cy="237744"/>
          </a:xfrm>
          <a:prstGeom prst="rightArrow">
            <a:avLst/>
          </a:prstGeom>
          <a:solidFill>
            <a:srgbClr val="8FA0BE"/>
          </a:solidFill>
        </p:spPr>
      </p:sp>
      <p:sp>
        <p:nvSpPr>
          <p:cNvPr id="11" name="stage-2"/>
          <p:cNvSpPr/>
          <p:nvPr/>
        </p:nvSpPr>
        <p:spPr>
          <a:xfrm>
            <a:off x="6181344" y="1737360"/>
            <a:ext cx="2468880" cy="1737360"/>
          </a:xfrm>
          <a:prstGeom prst="roundRect">
            <a:avLst>
              <a:gd name="adj" fmla="val 5263"/>
            </a:avLst>
          </a:prstGeom>
          <a:solidFill>
            <a:srgbClr val="ECE6FA"/>
          </a:solidFill>
          <a:ln w="15875">
            <a:solidFill>
              <a:srgbClr val="6D3FC4"/>
            </a:solidFill>
            <a:prstDash val="solid"/>
          </a:ln>
        </p:spPr>
      </p:sp>
      <p:sp>
        <p:nvSpPr>
          <p:cNvPr id="12" name="Text 10"/>
          <p:cNvSpPr txBox="1"/>
          <p:nvPr/>
        </p:nvSpPr>
        <p:spPr>
          <a:xfrm>
            <a:off x="6409944" y="1938528"/>
            <a:ext cx="2011680" cy="384048"/>
          </a:xfrm>
          <a:prstGeom prst="rect">
            <a:avLst/>
          </a:prstGeom>
          <a:noFill/>
        </p:spPr>
        <p:txBody>
          <a:bodyPr wrap="square" lIns="0" tIns="0" rIns="0" bIns="0" rtlCol="0" anchor="t"/>
          <a:lstStyle/>
          <a:p>
            <a:pPr marL="0" indent="0">
              <a:buNone/>
            </a:pPr>
            <a:r>
              <a:rPr lang="en-US" sz="1500" b="1" dirty="0">
                <a:solidFill>
                  <a:srgbClr val="6D3FC4"/>
                </a:solidFill>
              </a:rPr>
              <a:t>CTO</a:t>
            </a:r>
            <a:endParaRPr lang="en-US" sz="1500" dirty="0"/>
          </a:p>
        </p:txBody>
      </p:sp>
      <p:sp>
        <p:nvSpPr>
          <p:cNvPr id="13" name="Text 11"/>
          <p:cNvSpPr txBox="1"/>
          <p:nvPr/>
        </p:nvSpPr>
        <p:spPr>
          <a:xfrm>
            <a:off x="6409944" y="2304288"/>
            <a:ext cx="2011680" cy="1005840"/>
          </a:xfrm>
          <a:prstGeom prst="rect">
            <a:avLst/>
          </a:prstGeom>
          <a:noFill/>
        </p:spPr>
        <p:txBody>
          <a:bodyPr wrap="square" lIns="0" tIns="0" rIns="0" bIns="0" rtlCol="0" anchor="t"/>
          <a:lstStyle/>
          <a:p>
            <a:pPr marL="0" indent="0">
              <a:buNone/>
            </a:pPr>
            <a:r>
              <a:rPr lang="en-US" sz="1250" dirty="0">
                <a:solidFill>
                  <a:srgbClr val="3C4557"/>
                </a:solidFill>
              </a:rPr>
              <a:t>Final gate, across all projects.</a:t>
            </a:r>
            <a:endParaRPr lang="en-US" sz="1250" dirty="0"/>
          </a:p>
        </p:txBody>
      </p:sp>
      <p:sp>
        <p:nvSpPr>
          <p:cNvPr id="14" name="arrow-2"/>
          <p:cNvSpPr/>
          <p:nvPr/>
        </p:nvSpPr>
        <p:spPr>
          <a:xfrm>
            <a:off x="8705088" y="2487168"/>
            <a:ext cx="237744" cy="237744"/>
          </a:xfrm>
          <a:prstGeom prst="rightArrow">
            <a:avLst/>
          </a:prstGeom>
          <a:solidFill>
            <a:srgbClr val="8FA0BE"/>
          </a:solidFill>
        </p:spPr>
      </p:sp>
      <p:sp>
        <p:nvSpPr>
          <p:cNvPr id="15" name="stage-3"/>
          <p:cNvSpPr/>
          <p:nvPr/>
        </p:nvSpPr>
        <p:spPr>
          <a:xfrm>
            <a:off x="8997696" y="1737360"/>
            <a:ext cx="2468880" cy="1737360"/>
          </a:xfrm>
          <a:prstGeom prst="roundRect">
            <a:avLst>
              <a:gd name="adj" fmla="val 5263"/>
            </a:avLst>
          </a:prstGeom>
          <a:solidFill>
            <a:srgbClr val="E4F3EA"/>
          </a:solidFill>
          <a:ln w="15875">
            <a:solidFill>
              <a:srgbClr val="17663A"/>
            </a:solidFill>
            <a:prstDash val="solid"/>
          </a:ln>
        </p:spPr>
      </p:sp>
      <p:sp>
        <p:nvSpPr>
          <p:cNvPr id="16" name="Text 14"/>
          <p:cNvSpPr txBox="1"/>
          <p:nvPr/>
        </p:nvSpPr>
        <p:spPr>
          <a:xfrm>
            <a:off x="9226296" y="1938528"/>
            <a:ext cx="2011680" cy="384048"/>
          </a:xfrm>
          <a:prstGeom prst="rect">
            <a:avLst/>
          </a:prstGeom>
          <a:noFill/>
        </p:spPr>
        <p:txBody>
          <a:bodyPr wrap="square" lIns="0" tIns="0" rIns="0" bIns="0" rtlCol="0" anchor="t"/>
          <a:lstStyle/>
          <a:p>
            <a:pPr marL="0" indent="0">
              <a:buNone/>
            </a:pPr>
            <a:r>
              <a:rPr lang="en-US" sz="1500" b="1" dirty="0">
                <a:solidFill>
                  <a:srgbClr val="17663A"/>
                </a:solidFill>
              </a:rPr>
              <a:t>Approved</a:t>
            </a:r>
            <a:endParaRPr lang="en-US" sz="1500" dirty="0"/>
          </a:p>
        </p:txBody>
      </p:sp>
      <p:sp>
        <p:nvSpPr>
          <p:cNvPr id="17" name="Text 15"/>
          <p:cNvSpPr txBox="1"/>
          <p:nvPr/>
        </p:nvSpPr>
        <p:spPr>
          <a:xfrm>
            <a:off x="9226296" y="2304288"/>
            <a:ext cx="2011680" cy="1005840"/>
          </a:xfrm>
          <a:prstGeom prst="rect">
            <a:avLst/>
          </a:prstGeom>
          <a:noFill/>
        </p:spPr>
        <p:txBody>
          <a:bodyPr wrap="square" lIns="0" tIns="0" rIns="0" bIns="0" rtlCol="0" anchor="t"/>
          <a:lstStyle/>
          <a:p>
            <a:pPr marL="0" indent="0">
              <a:buNone/>
            </a:pPr>
            <a:r>
              <a:rPr lang="en-US" sz="1250" dirty="0">
                <a:solidFill>
                  <a:srgbClr val="3C4557"/>
                </a:solidFill>
              </a:rPr>
              <a:t>Counts as data. Supersedes the last sheet.</a:t>
            </a:r>
            <a:endParaRPr lang="en-US" sz="1250" dirty="0"/>
          </a:p>
        </p:txBody>
      </p:sp>
      <p:sp>
        <p:nvSpPr>
          <p:cNvPr id="18" name="Text 16"/>
          <p:cNvSpPr txBox="1"/>
          <p:nvPr/>
        </p:nvSpPr>
        <p:spPr>
          <a:xfrm>
            <a:off x="548640" y="3977640"/>
            <a:ext cx="3474720" cy="365760"/>
          </a:xfrm>
          <a:prstGeom prst="rect">
            <a:avLst/>
          </a:prstGeom>
          <a:noFill/>
        </p:spPr>
        <p:txBody>
          <a:bodyPr wrap="square" lIns="0" tIns="0" rIns="0" bIns="0" rtlCol="0" anchor="ctr"/>
          <a:lstStyle/>
          <a:p>
            <a:pPr marL="0" indent="0">
              <a:buNone/>
            </a:pPr>
            <a:r>
              <a:rPr lang="en-US" sz="1600" b="1" dirty="0">
                <a:solidFill>
                  <a:srgbClr val="0D1B3E"/>
                </a:solidFill>
              </a:rPr>
              <a:t>Nobody signs twice</a:t>
            </a:r>
            <a:endParaRPr lang="en-US" sz="1600" dirty="0"/>
          </a:p>
        </p:txBody>
      </p:sp>
      <p:sp>
        <p:nvSpPr>
          <p:cNvPr id="19" name="Text 17"/>
          <p:cNvSpPr txBox="1"/>
          <p:nvPr/>
        </p:nvSpPr>
        <p:spPr>
          <a:xfrm>
            <a:off x="548640" y="4389120"/>
            <a:ext cx="3474720" cy="1280160"/>
          </a:xfrm>
          <a:prstGeom prst="rect">
            <a:avLst/>
          </a:prstGeom>
          <a:noFill/>
        </p:spPr>
        <p:txBody>
          <a:bodyPr wrap="square" lIns="0" tIns="0" rIns="0" bIns="0" rtlCol="0" anchor="t"/>
          <a:lstStyle/>
          <a:p>
            <a:pPr marL="0" indent="0">
              <a:buNone/>
            </a:pPr>
            <a:r>
              <a:rPr lang="en-US" sz="1300" dirty="0">
                <a:solidFill>
                  <a:srgbClr val="4A5568"/>
                </a:solidFill>
              </a:rPr>
              <a:t>Each stage belongs to exactly one role, so an administrator cannot also give the vertical head's approval.</a:t>
            </a:r>
            <a:endParaRPr lang="en-US" sz="1300" dirty="0"/>
          </a:p>
        </p:txBody>
      </p:sp>
      <p:sp>
        <p:nvSpPr>
          <p:cNvPr id="20" name="Text 18"/>
          <p:cNvSpPr txBox="1"/>
          <p:nvPr/>
        </p:nvSpPr>
        <p:spPr>
          <a:xfrm>
            <a:off x="4297680" y="3977640"/>
            <a:ext cx="3474720" cy="365760"/>
          </a:xfrm>
          <a:prstGeom prst="rect">
            <a:avLst/>
          </a:prstGeom>
          <a:noFill/>
        </p:spPr>
        <p:txBody>
          <a:bodyPr wrap="square" lIns="0" tIns="0" rIns="0" bIns="0" rtlCol="0" anchor="ctr"/>
          <a:lstStyle/>
          <a:p>
            <a:pPr marL="0" indent="0">
              <a:buNone/>
            </a:pPr>
            <a:r>
              <a:rPr lang="en-US" sz="1600" b="1" dirty="0">
                <a:solidFill>
                  <a:srgbClr val="0D1B3E"/>
                </a:solidFill>
              </a:rPr>
              <a:t>A rejection has no way back</a:t>
            </a:r>
            <a:endParaRPr lang="en-US" sz="1600" dirty="0"/>
          </a:p>
        </p:txBody>
      </p:sp>
      <p:sp>
        <p:nvSpPr>
          <p:cNvPr id="21" name="Text 19"/>
          <p:cNvSpPr txBox="1"/>
          <p:nvPr/>
        </p:nvSpPr>
        <p:spPr>
          <a:xfrm>
            <a:off x="4297680" y="4389120"/>
            <a:ext cx="3474720" cy="1280160"/>
          </a:xfrm>
          <a:prstGeom prst="rect">
            <a:avLst/>
          </a:prstGeom>
          <a:noFill/>
        </p:spPr>
        <p:txBody>
          <a:bodyPr wrap="square" lIns="0" tIns="0" rIns="0" bIns="0" rtlCol="0" anchor="t"/>
          <a:lstStyle/>
          <a:p>
            <a:pPr marL="0" indent="0">
              <a:buNone/>
            </a:pPr>
            <a:r>
              <a:rPr lang="en-US" sz="1300" dirty="0">
                <a:solidFill>
                  <a:srgbClr val="4A5568"/>
                </a:solidFill>
              </a:rPr>
              <a:t>A turned-down sheet is corrected outside the system and uploaded again. The reason stays on the old record.</a:t>
            </a:r>
            <a:endParaRPr lang="en-US" sz="1300" dirty="0"/>
          </a:p>
        </p:txBody>
      </p:sp>
      <p:sp>
        <p:nvSpPr>
          <p:cNvPr id="22" name="Text 20"/>
          <p:cNvSpPr txBox="1"/>
          <p:nvPr/>
        </p:nvSpPr>
        <p:spPr>
          <a:xfrm>
            <a:off x="8046720" y="3977640"/>
            <a:ext cx="3474720" cy="365760"/>
          </a:xfrm>
          <a:prstGeom prst="rect">
            <a:avLst/>
          </a:prstGeom>
          <a:noFill/>
        </p:spPr>
        <p:txBody>
          <a:bodyPr wrap="square" lIns="0" tIns="0" rIns="0" bIns="0" rtlCol="0" anchor="ctr"/>
          <a:lstStyle/>
          <a:p>
            <a:pPr marL="0" indent="0">
              <a:buNone/>
            </a:pPr>
            <a:r>
              <a:rPr lang="en-US" sz="1600" b="1" dirty="0">
                <a:solidFill>
                  <a:srgbClr val="0D1B3E"/>
                </a:solidFill>
              </a:rPr>
              <a:t>Nothing is deleted</a:t>
            </a:r>
            <a:endParaRPr lang="en-US" sz="1600" dirty="0"/>
          </a:p>
        </p:txBody>
      </p:sp>
      <p:sp>
        <p:nvSpPr>
          <p:cNvPr id="23" name="Text 21"/>
          <p:cNvSpPr txBox="1"/>
          <p:nvPr/>
        </p:nvSpPr>
        <p:spPr>
          <a:xfrm>
            <a:off x="8046720" y="4389120"/>
            <a:ext cx="3474720" cy="1280160"/>
          </a:xfrm>
          <a:prstGeom prst="rect">
            <a:avLst/>
          </a:prstGeom>
          <a:noFill/>
        </p:spPr>
        <p:txBody>
          <a:bodyPr wrap="square" lIns="0" tIns="0" rIns="0" bIns="0" rtlCol="0" anchor="t"/>
          <a:lstStyle/>
          <a:p>
            <a:pPr marL="0" indent="0">
              <a:buNone/>
            </a:pPr>
            <a:r>
              <a:rPr lang="en-US" sz="1300" dirty="0">
                <a:solidFill>
                  <a:srgbClr val="4A5568"/>
                </a:solidFill>
              </a:rPr>
              <a:t>A newer approved sheet marks the previous one superseded rather than removing it.</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457200"/>
            <a:ext cx="11064240" cy="868680"/>
          </a:xfrm>
          <a:prstGeom prst="rect">
            <a:avLst/>
          </a:prstGeom>
          <a:noFill/>
        </p:spPr>
        <p:txBody>
          <a:bodyPr wrap="square" rtlCol="0" anchor="t"/>
          <a:lstStyle/>
          <a:p>
            <a:pPr marL="0" indent="0" algn="l">
              <a:buNone/>
            </a:pPr>
            <a:r>
              <a:rPr lang="en-US" sz="3200" b="1" dirty="0">
                <a:solidFill>
                  <a:srgbClr val="0D1B3E"/>
                </a:solidFill>
              </a:rPr>
              <a:t>Process flow</a:t>
            </a:r>
            <a:endParaRPr lang="en-US" sz="3200" dirty="0"/>
          </a:p>
        </p:txBody>
      </p:sp>
      <p:sp>
        <p:nvSpPr>
          <p:cNvPr id="3" name="Text 1"/>
          <p:cNvSpPr txBox="1"/>
          <p:nvPr/>
        </p:nvSpPr>
        <p:spPr>
          <a:xfrm>
            <a:off x="548640" y="1325880"/>
            <a:ext cx="11064240" cy="502920"/>
          </a:xfrm>
          <a:prstGeom prst="rect">
            <a:avLst/>
          </a:prstGeom>
          <a:noFill/>
        </p:spPr>
        <p:txBody>
          <a:bodyPr wrap="square" lIns="0" tIns="0" rIns="0" bIns="0" rtlCol="0" anchor="t"/>
          <a:lstStyle/>
          <a:p>
            <a:pPr marL="0" indent="0">
              <a:buNone/>
            </a:pPr>
            <a:r>
              <a:rPr lang="en-US" sz="1550" dirty="0">
                <a:solidFill>
                  <a:srgbClr val="4A5568"/>
                </a:solidFill>
              </a:rPr>
              <a:t>From the sheet arriving to the data being used — and the three sign-offs in between.</a:t>
            </a:r>
            <a:endParaRPr lang="en-US" sz="1550" dirty="0"/>
          </a:p>
        </p:txBody>
      </p:sp>
      <p:sp>
        <p:nvSpPr>
          <p:cNvPr id="4" name="stage-0"/>
          <p:cNvSpPr/>
          <p:nvPr/>
        </p:nvSpPr>
        <p:spPr>
          <a:xfrm>
            <a:off x="548640" y="1965960"/>
            <a:ext cx="2468880" cy="1417320"/>
          </a:xfrm>
          <a:prstGeom prst="roundRect">
            <a:avLst>
              <a:gd name="adj" fmla="val 6452"/>
            </a:avLst>
          </a:prstGeom>
          <a:solidFill>
            <a:srgbClr val="FFFFFF"/>
          </a:solidFill>
          <a:ln w="19050">
            <a:solidFill>
              <a:srgbClr val="2563EB"/>
            </a:solidFill>
            <a:prstDash val="solid"/>
          </a:ln>
        </p:spPr>
      </p:sp>
      <p:sp>
        <p:nvSpPr>
          <p:cNvPr id="5" name="Text 3"/>
          <p:cNvSpPr txBox="1"/>
          <p:nvPr/>
        </p:nvSpPr>
        <p:spPr>
          <a:xfrm>
            <a:off x="749808" y="2103120"/>
            <a:ext cx="457200" cy="274320"/>
          </a:xfrm>
          <a:prstGeom prst="rect">
            <a:avLst/>
          </a:prstGeom>
          <a:noFill/>
        </p:spPr>
        <p:txBody>
          <a:bodyPr wrap="square" lIns="0" tIns="0" rIns="0" bIns="0" rtlCol="0" anchor="ctr"/>
          <a:lstStyle/>
          <a:p>
            <a:pPr marL="0" indent="0">
              <a:buNone/>
            </a:pPr>
            <a:r>
              <a:rPr lang="en-US" sz="1050" b="1" kern="0" spc="150" dirty="0">
                <a:solidFill>
                  <a:srgbClr val="2563EB"/>
                </a:solidFill>
              </a:rPr>
              <a:t>1</a:t>
            </a:r>
            <a:endParaRPr lang="en-US" sz="1050" dirty="0"/>
          </a:p>
        </p:txBody>
      </p:sp>
      <p:sp>
        <p:nvSpPr>
          <p:cNvPr id="6" name="Text 4"/>
          <p:cNvSpPr txBox="1"/>
          <p:nvPr/>
        </p:nvSpPr>
        <p:spPr>
          <a:xfrm>
            <a:off x="749808" y="2359152"/>
            <a:ext cx="2066544" cy="365760"/>
          </a:xfrm>
          <a:prstGeom prst="rect">
            <a:avLst/>
          </a:prstGeom>
          <a:noFill/>
        </p:spPr>
        <p:txBody>
          <a:bodyPr wrap="square" lIns="0" tIns="0" rIns="0" bIns="0" rtlCol="0" anchor="ctr"/>
          <a:lstStyle/>
          <a:p>
            <a:pPr marL="0" indent="0">
              <a:buNone/>
            </a:pPr>
            <a:r>
              <a:rPr lang="en-US" sz="1700" b="1" dirty="0">
                <a:solidFill>
                  <a:srgbClr val="2563EB"/>
                </a:solidFill>
                <a:latin typeface="Cambria" pitchFamily="34" charset="0"/>
                <a:ea typeface="Cambria" pitchFamily="34" charset="-122"/>
                <a:cs typeface="Cambria" pitchFamily="34" charset="-120"/>
              </a:rPr>
              <a:t>Upload</a:t>
            </a:r>
            <a:endParaRPr lang="en-US" sz="1700" dirty="0"/>
          </a:p>
        </p:txBody>
      </p:sp>
      <p:sp>
        <p:nvSpPr>
          <p:cNvPr id="7" name="Text 5"/>
          <p:cNvSpPr txBox="1"/>
          <p:nvPr/>
        </p:nvSpPr>
        <p:spPr>
          <a:xfrm>
            <a:off x="749808" y="2743200"/>
            <a:ext cx="2066544" cy="548640"/>
          </a:xfrm>
          <a:prstGeom prst="rect">
            <a:avLst/>
          </a:prstGeom>
          <a:noFill/>
        </p:spPr>
        <p:txBody>
          <a:bodyPr wrap="square" lIns="0" tIns="0" rIns="0" bIns="0" rtlCol="0" anchor="t"/>
          <a:lstStyle/>
          <a:p>
            <a:pPr marL="0" indent="0">
              <a:buNone/>
            </a:pPr>
            <a:r>
              <a:rPr lang="en-US" sz="1150" dirty="0">
                <a:solidFill>
                  <a:srgbClr val="4A5568"/>
                </a:solidFill>
              </a:rPr>
              <a:t>A team member picks the project</a:t>
            </a:r>
            <a:endParaRPr lang="en-US" sz="1150" dirty="0"/>
          </a:p>
          <a:p>
            <a:pPr marL="0" indent="0">
              <a:buNone/>
            </a:pPr>
            <a:r>
              <a:rPr lang="en-US" sz="1150" dirty="0">
                <a:solidFill>
                  <a:srgbClr val="4A5568"/>
                </a:solidFill>
              </a:rPr>
              <a:t>and sends the sheet.</a:t>
            </a:r>
            <a:endParaRPr lang="en-US" sz="1150" dirty="0"/>
          </a:p>
        </p:txBody>
      </p:sp>
      <p:sp>
        <p:nvSpPr>
          <p:cNvPr id="8" name="arr-0"/>
          <p:cNvSpPr/>
          <p:nvPr/>
        </p:nvSpPr>
        <p:spPr>
          <a:xfrm>
            <a:off x="3090672" y="2496312"/>
            <a:ext cx="274320" cy="365760"/>
          </a:xfrm>
          <a:prstGeom prst="chevron">
            <a:avLst/>
          </a:prstGeom>
          <a:solidFill>
            <a:srgbClr val="2563EB"/>
          </a:solidFill>
        </p:spPr>
      </p:sp>
      <p:sp>
        <p:nvSpPr>
          <p:cNvPr id="9" name="stage-1"/>
          <p:cNvSpPr/>
          <p:nvPr/>
        </p:nvSpPr>
        <p:spPr>
          <a:xfrm>
            <a:off x="3401568" y="1965960"/>
            <a:ext cx="2468880" cy="1417320"/>
          </a:xfrm>
          <a:prstGeom prst="roundRect">
            <a:avLst>
              <a:gd name="adj" fmla="val 6452"/>
            </a:avLst>
          </a:prstGeom>
          <a:solidFill>
            <a:srgbClr val="FFFFFF"/>
          </a:solidFill>
          <a:ln w="19050">
            <a:solidFill>
              <a:srgbClr val="6A7179"/>
            </a:solidFill>
            <a:prstDash val="solid"/>
          </a:ln>
        </p:spPr>
      </p:sp>
      <p:sp>
        <p:nvSpPr>
          <p:cNvPr id="10" name="Text 8"/>
          <p:cNvSpPr txBox="1"/>
          <p:nvPr/>
        </p:nvSpPr>
        <p:spPr>
          <a:xfrm>
            <a:off x="3602736" y="2103120"/>
            <a:ext cx="457200" cy="274320"/>
          </a:xfrm>
          <a:prstGeom prst="rect">
            <a:avLst/>
          </a:prstGeom>
          <a:noFill/>
        </p:spPr>
        <p:txBody>
          <a:bodyPr wrap="square" lIns="0" tIns="0" rIns="0" bIns="0" rtlCol="0" anchor="ctr"/>
          <a:lstStyle/>
          <a:p>
            <a:pPr marL="0" indent="0">
              <a:buNone/>
            </a:pPr>
            <a:r>
              <a:rPr lang="en-US" sz="1050" b="1" kern="0" spc="150" dirty="0">
                <a:solidFill>
                  <a:srgbClr val="6A7179"/>
                </a:solidFill>
              </a:rPr>
              <a:t>2</a:t>
            </a:r>
            <a:endParaRPr lang="en-US" sz="1050" dirty="0"/>
          </a:p>
        </p:txBody>
      </p:sp>
      <p:sp>
        <p:nvSpPr>
          <p:cNvPr id="11" name="Text 9"/>
          <p:cNvSpPr txBox="1"/>
          <p:nvPr/>
        </p:nvSpPr>
        <p:spPr>
          <a:xfrm>
            <a:off x="3602736" y="2359152"/>
            <a:ext cx="2066544" cy="365760"/>
          </a:xfrm>
          <a:prstGeom prst="rect">
            <a:avLst/>
          </a:prstGeom>
          <a:noFill/>
        </p:spPr>
        <p:txBody>
          <a:bodyPr wrap="square" lIns="0" tIns="0" rIns="0" bIns="0" rtlCol="0" anchor="ctr"/>
          <a:lstStyle/>
          <a:p>
            <a:pPr marL="0" indent="0">
              <a:buNone/>
            </a:pPr>
            <a:r>
              <a:rPr lang="en-US" sz="1700" b="1" dirty="0">
                <a:solidFill>
                  <a:srgbClr val="6A7179"/>
                </a:solidFill>
                <a:latin typeface="Cambria" pitchFamily="34" charset="0"/>
                <a:ea typeface="Cambria" pitchFamily="34" charset="-122"/>
                <a:cs typeface="Cambria" pitchFamily="34" charset="-120"/>
              </a:rPr>
              <a:t>Read</a:t>
            </a:r>
            <a:endParaRPr lang="en-US" sz="1700" dirty="0"/>
          </a:p>
        </p:txBody>
      </p:sp>
      <p:sp>
        <p:nvSpPr>
          <p:cNvPr id="12" name="Text 10"/>
          <p:cNvSpPr txBox="1"/>
          <p:nvPr/>
        </p:nvSpPr>
        <p:spPr>
          <a:xfrm>
            <a:off x="3602736" y="2743200"/>
            <a:ext cx="2066544" cy="548640"/>
          </a:xfrm>
          <a:prstGeom prst="rect">
            <a:avLst/>
          </a:prstGeom>
          <a:noFill/>
        </p:spPr>
        <p:txBody>
          <a:bodyPr wrap="square" lIns="0" tIns="0" rIns="0" bIns="0" rtlCol="0" anchor="t"/>
          <a:lstStyle/>
          <a:p>
            <a:pPr marL="0" indent="0">
              <a:buNone/>
            </a:pPr>
            <a:r>
              <a:rPr lang="en-US" sz="1150" dirty="0">
                <a:solidFill>
                  <a:srgbClr val="4A5568"/>
                </a:solidFill>
              </a:rPr>
              <a:t>The system reads the sheet and</a:t>
            </a:r>
            <a:endParaRPr lang="en-US" sz="1150" dirty="0"/>
          </a:p>
          <a:p>
            <a:pPr marL="0" indent="0">
              <a:buNone/>
            </a:pPr>
            <a:r>
              <a:rPr lang="en-US" sz="1150" dirty="0">
                <a:solidFill>
                  <a:srgbClr val="4A5568"/>
                </a:solidFill>
              </a:rPr>
              <a:t>stores it as rows.</a:t>
            </a:r>
            <a:endParaRPr lang="en-US" sz="1150" dirty="0"/>
          </a:p>
        </p:txBody>
      </p:sp>
      <p:sp>
        <p:nvSpPr>
          <p:cNvPr id="13" name="arr-1"/>
          <p:cNvSpPr/>
          <p:nvPr/>
        </p:nvSpPr>
        <p:spPr>
          <a:xfrm>
            <a:off x="5943600" y="2496312"/>
            <a:ext cx="274320" cy="365760"/>
          </a:xfrm>
          <a:prstGeom prst="chevron">
            <a:avLst/>
          </a:prstGeom>
          <a:solidFill>
            <a:srgbClr val="6A7179"/>
          </a:solidFill>
        </p:spPr>
      </p:sp>
      <p:sp>
        <p:nvSpPr>
          <p:cNvPr id="14" name="stage-2"/>
          <p:cNvSpPr/>
          <p:nvPr/>
        </p:nvSpPr>
        <p:spPr>
          <a:xfrm>
            <a:off x="6254496" y="1965960"/>
            <a:ext cx="2468880" cy="1417320"/>
          </a:xfrm>
          <a:prstGeom prst="roundRect">
            <a:avLst>
              <a:gd name="adj" fmla="val 6452"/>
            </a:avLst>
          </a:prstGeom>
          <a:solidFill>
            <a:srgbClr val="FFFFFF"/>
          </a:solidFill>
          <a:ln w="19050">
            <a:solidFill>
              <a:srgbClr val="A06C0A"/>
            </a:solidFill>
            <a:prstDash val="solid"/>
          </a:ln>
        </p:spPr>
      </p:sp>
      <p:sp>
        <p:nvSpPr>
          <p:cNvPr id="15" name="Text 13"/>
          <p:cNvSpPr txBox="1"/>
          <p:nvPr/>
        </p:nvSpPr>
        <p:spPr>
          <a:xfrm>
            <a:off x="6455664" y="2103120"/>
            <a:ext cx="457200" cy="274320"/>
          </a:xfrm>
          <a:prstGeom prst="rect">
            <a:avLst/>
          </a:prstGeom>
          <a:noFill/>
        </p:spPr>
        <p:txBody>
          <a:bodyPr wrap="square" lIns="0" tIns="0" rIns="0" bIns="0" rtlCol="0" anchor="ctr"/>
          <a:lstStyle/>
          <a:p>
            <a:pPr marL="0" indent="0">
              <a:buNone/>
            </a:pPr>
            <a:r>
              <a:rPr lang="en-US" sz="1050" b="1" kern="0" spc="150" dirty="0">
                <a:solidFill>
                  <a:srgbClr val="A06C0A"/>
                </a:solidFill>
              </a:rPr>
              <a:t>3</a:t>
            </a:r>
            <a:endParaRPr lang="en-US" sz="1050" dirty="0"/>
          </a:p>
        </p:txBody>
      </p:sp>
      <p:sp>
        <p:nvSpPr>
          <p:cNvPr id="16" name="Text 14"/>
          <p:cNvSpPr txBox="1"/>
          <p:nvPr/>
        </p:nvSpPr>
        <p:spPr>
          <a:xfrm>
            <a:off x="6455664" y="2359152"/>
            <a:ext cx="2066544" cy="365760"/>
          </a:xfrm>
          <a:prstGeom prst="rect">
            <a:avLst/>
          </a:prstGeom>
          <a:noFill/>
        </p:spPr>
        <p:txBody>
          <a:bodyPr wrap="square" lIns="0" tIns="0" rIns="0" bIns="0" rtlCol="0" anchor="ctr"/>
          <a:lstStyle/>
          <a:p>
            <a:pPr marL="0" indent="0">
              <a:buNone/>
            </a:pPr>
            <a:r>
              <a:rPr lang="en-US" sz="1700" b="1" dirty="0">
                <a:solidFill>
                  <a:srgbClr val="A06C0A"/>
                </a:solidFill>
                <a:latin typeface="Cambria" pitchFamily="34" charset="0"/>
                <a:ea typeface="Cambria" pitchFamily="34" charset="-122"/>
                <a:cs typeface="Cambria" pitchFamily="34" charset="-120"/>
              </a:rPr>
              <a:t>Approve</a:t>
            </a:r>
            <a:endParaRPr lang="en-US" sz="1700" dirty="0"/>
          </a:p>
        </p:txBody>
      </p:sp>
      <p:sp>
        <p:nvSpPr>
          <p:cNvPr id="17" name="Text 15"/>
          <p:cNvSpPr txBox="1"/>
          <p:nvPr/>
        </p:nvSpPr>
        <p:spPr>
          <a:xfrm>
            <a:off x="6455664" y="2743200"/>
            <a:ext cx="2066544" cy="548640"/>
          </a:xfrm>
          <a:prstGeom prst="rect">
            <a:avLst/>
          </a:prstGeom>
          <a:noFill/>
        </p:spPr>
        <p:txBody>
          <a:bodyPr wrap="square" lIns="0" tIns="0" rIns="0" bIns="0" rtlCol="0" anchor="t"/>
          <a:lstStyle/>
          <a:p>
            <a:pPr marL="0" indent="0">
              <a:buNone/>
            </a:pPr>
            <a:r>
              <a:rPr lang="en-US" sz="1150" dirty="0">
                <a:solidFill>
                  <a:srgbClr val="4A5568"/>
                </a:solidFill>
              </a:rPr>
              <a:t>Three sign-offs, each by a</a:t>
            </a:r>
            <a:endParaRPr lang="en-US" sz="1150" dirty="0"/>
          </a:p>
          <a:p>
            <a:pPr marL="0" indent="0">
              <a:buNone/>
            </a:pPr>
            <a:r>
              <a:rPr lang="en-US" sz="1150" dirty="0">
                <a:solidFill>
                  <a:srgbClr val="4A5568"/>
                </a:solidFill>
              </a:rPr>
              <a:t>different role.</a:t>
            </a:r>
            <a:endParaRPr lang="en-US" sz="1150" dirty="0"/>
          </a:p>
        </p:txBody>
      </p:sp>
      <p:sp>
        <p:nvSpPr>
          <p:cNvPr id="18" name="arr-2"/>
          <p:cNvSpPr/>
          <p:nvPr/>
        </p:nvSpPr>
        <p:spPr>
          <a:xfrm>
            <a:off x="8796528" y="2496312"/>
            <a:ext cx="274320" cy="365760"/>
          </a:xfrm>
          <a:prstGeom prst="chevron">
            <a:avLst/>
          </a:prstGeom>
          <a:solidFill>
            <a:srgbClr val="A06C0A"/>
          </a:solidFill>
        </p:spPr>
      </p:sp>
      <p:sp>
        <p:nvSpPr>
          <p:cNvPr id="19" name="stage-3"/>
          <p:cNvSpPr/>
          <p:nvPr/>
        </p:nvSpPr>
        <p:spPr>
          <a:xfrm>
            <a:off x="9107424" y="1965960"/>
            <a:ext cx="2468880" cy="1417320"/>
          </a:xfrm>
          <a:prstGeom prst="roundRect">
            <a:avLst>
              <a:gd name="adj" fmla="val 6452"/>
            </a:avLst>
          </a:prstGeom>
          <a:solidFill>
            <a:srgbClr val="FFFFFF"/>
          </a:solidFill>
          <a:ln w="19050">
            <a:solidFill>
              <a:srgbClr val="17663A"/>
            </a:solidFill>
            <a:prstDash val="solid"/>
          </a:ln>
        </p:spPr>
      </p:sp>
      <p:sp>
        <p:nvSpPr>
          <p:cNvPr id="20" name="Text 18"/>
          <p:cNvSpPr txBox="1"/>
          <p:nvPr/>
        </p:nvSpPr>
        <p:spPr>
          <a:xfrm>
            <a:off x="9308592" y="2103120"/>
            <a:ext cx="457200" cy="274320"/>
          </a:xfrm>
          <a:prstGeom prst="rect">
            <a:avLst/>
          </a:prstGeom>
          <a:noFill/>
        </p:spPr>
        <p:txBody>
          <a:bodyPr wrap="square" lIns="0" tIns="0" rIns="0" bIns="0" rtlCol="0" anchor="ctr"/>
          <a:lstStyle/>
          <a:p>
            <a:pPr marL="0" indent="0">
              <a:buNone/>
            </a:pPr>
            <a:r>
              <a:rPr lang="en-US" sz="1050" b="1" kern="0" spc="150" dirty="0">
                <a:solidFill>
                  <a:srgbClr val="17663A"/>
                </a:solidFill>
              </a:rPr>
              <a:t>4</a:t>
            </a:r>
            <a:endParaRPr lang="en-US" sz="1050" dirty="0"/>
          </a:p>
        </p:txBody>
      </p:sp>
      <p:sp>
        <p:nvSpPr>
          <p:cNvPr id="21" name="Text 19"/>
          <p:cNvSpPr txBox="1"/>
          <p:nvPr/>
        </p:nvSpPr>
        <p:spPr>
          <a:xfrm>
            <a:off x="9308592" y="2359152"/>
            <a:ext cx="2066544" cy="365760"/>
          </a:xfrm>
          <a:prstGeom prst="rect">
            <a:avLst/>
          </a:prstGeom>
          <a:noFill/>
        </p:spPr>
        <p:txBody>
          <a:bodyPr wrap="square" lIns="0" tIns="0" rIns="0" bIns="0" rtlCol="0" anchor="ctr"/>
          <a:lstStyle/>
          <a:p>
            <a:pPr marL="0" indent="0">
              <a:buNone/>
            </a:pPr>
            <a:r>
              <a:rPr lang="en-US" sz="1700" b="1" dirty="0">
                <a:solidFill>
                  <a:srgbClr val="17663A"/>
                </a:solidFill>
                <a:latin typeface="Cambria" pitchFamily="34" charset="0"/>
                <a:ea typeface="Cambria" pitchFamily="34" charset="-122"/>
                <a:cs typeface="Cambria" pitchFamily="34" charset="-120"/>
              </a:rPr>
              <a:t>Use</a:t>
            </a:r>
            <a:endParaRPr lang="en-US" sz="1700" dirty="0"/>
          </a:p>
        </p:txBody>
      </p:sp>
      <p:sp>
        <p:nvSpPr>
          <p:cNvPr id="22" name="Text 20"/>
          <p:cNvSpPr txBox="1"/>
          <p:nvPr/>
        </p:nvSpPr>
        <p:spPr>
          <a:xfrm>
            <a:off x="9308592" y="2743200"/>
            <a:ext cx="2066544" cy="548640"/>
          </a:xfrm>
          <a:prstGeom prst="rect">
            <a:avLst/>
          </a:prstGeom>
          <a:noFill/>
        </p:spPr>
        <p:txBody>
          <a:bodyPr wrap="square" lIns="0" tIns="0" rIns="0" bIns="0" rtlCol="0" anchor="t"/>
          <a:lstStyle/>
          <a:p>
            <a:pPr marL="0" indent="0">
              <a:buNone/>
            </a:pPr>
            <a:r>
              <a:rPr lang="en-US" sz="1150" dirty="0">
                <a:solidFill>
                  <a:srgbClr val="4A5568"/>
                </a:solidFill>
              </a:rPr>
              <a:t>Browse, filter and export</a:t>
            </a:r>
            <a:endParaRPr lang="en-US" sz="1150" dirty="0"/>
          </a:p>
          <a:p>
            <a:pPr marL="0" indent="0">
              <a:buNone/>
            </a:pPr>
            <a:r>
              <a:rPr lang="en-US" sz="1150" dirty="0">
                <a:solidFill>
                  <a:srgbClr val="4A5568"/>
                </a:solidFill>
              </a:rPr>
              <a:t>the approved data.</a:t>
            </a:r>
            <a:endParaRPr lang="en-US" sz="1150" dirty="0"/>
          </a:p>
        </p:txBody>
      </p:sp>
      <p:sp>
        <p:nvSpPr>
          <p:cNvPr id="23" name="drop"/>
          <p:cNvSpPr/>
          <p:nvPr/>
        </p:nvSpPr>
        <p:spPr>
          <a:xfrm>
            <a:off x="7488936" y="3383280"/>
            <a:ext cx="0" cy="365760"/>
          </a:xfrm>
          <a:prstGeom prst="line">
            <a:avLst/>
          </a:prstGeom>
          <a:noFill/>
          <a:ln w="15875">
            <a:solidFill>
              <a:srgbClr val="C9D2E3"/>
            </a:solidFill>
            <a:prstDash val="solid"/>
          </a:ln>
        </p:spPr>
      </p:sp>
      <p:sp>
        <p:nvSpPr>
          <p:cNvPr id="24" name="so-0"/>
          <p:cNvSpPr/>
          <p:nvPr/>
        </p:nvSpPr>
        <p:spPr>
          <a:xfrm>
            <a:off x="2468880" y="3749040"/>
            <a:ext cx="2468880" cy="914400"/>
          </a:xfrm>
          <a:prstGeom prst="roundRect">
            <a:avLst>
              <a:gd name="adj" fmla="val 8000"/>
            </a:avLst>
          </a:prstGeom>
          <a:solidFill>
            <a:srgbClr val="F4F6FA"/>
          </a:solidFill>
        </p:spPr>
      </p:sp>
      <p:sp>
        <p:nvSpPr>
          <p:cNvPr id="25" name="sob-0"/>
          <p:cNvSpPr/>
          <p:nvPr/>
        </p:nvSpPr>
        <p:spPr>
          <a:xfrm>
            <a:off x="2468880" y="3749040"/>
            <a:ext cx="64008" cy="914400"/>
          </a:xfrm>
          <a:prstGeom prst="rect">
            <a:avLst/>
          </a:prstGeom>
          <a:solidFill>
            <a:srgbClr val="A06C0A"/>
          </a:solidFill>
        </p:spPr>
      </p:sp>
      <p:sp>
        <p:nvSpPr>
          <p:cNvPr id="26" name="Text 24"/>
          <p:cNvSpPr txBox="1"/>
          <p:nvPr/>
        </p:nvSpPr>
        <p:spPr>
          <a:xfrm>
            <a:off x="2697480" y="3895344"/>
            <a:ext cx="2103120" cy="292608"/>
          </a:xfrm>
          <a:prstGeom prst="rect">
            <a:avLst/>
          </a:prstGeom>
          <a:noFill/>
        </p:spPr>
        <p:txBody>
          <a:bodyPr wrap="square" lIns="0" tIns="0" rIns="0" bIns="0" rtlCol="0" anchor="ctr"/>
          <a:lstStyle/>
          <a:p>
            <a:pPr marL="0" indent="0">
              <a:buNone/>
            </a:pPr>
            <a:r>
              <a:rPr lang="en-US" sz="1350" b="1" dirty="0">
                <a:solidFill>
                  <a:srgbClr val="A06C0A"/>
                </a:solidFill>
              </a:rPr>
              <a:t>Vertical Head</a:t>
            </a:r>
            <a:endParaRPr lang="en-US" sz="1350" dirty="0"/>
          </a:p>
        </p:txBody>
      </p:sp>
      <p:sp>
        <p:nvSpPr>
          <p:cNvPr id="27" name="Text 25"/>
          <p:cNvSpPr txBox="1"/>
          <p:nvPr/>
        </p:nvSpPr>
        <p:spPr>
          <a:xfrm>
            <a:off x="2697480" y="4206240"/>
            <a:ext cx="2103120" cy="292608"/>
          </a:xfrm>
          <a:prstGeom prst="rect">
            <a:avLst/>
          </a:prstGeom>
          <a:noFill/>
        </p:spPr>
        <p:txBody>
          <a:bodyPr wrap="square" lIns="0" tIns="0" rIns="0" bIns="0" rtlCol="0" anchor="ctr"/>
          <a:lstStyle/>
          <a:p>
            <a:pPr marL="0" indent="0">
              <a:buNone/>
            </a:pPr>
            <a:r>
              <a:rPr lang="en-US" sz="1150" dirty="0">
                <a:solidFill>
                  <a:srgbClr val="4A5568"/>
                </a:solidFill>
              </a:rPr>
              <a:t>their own projects</a:t>
            </a:r>
            <a:endParaRPr lang="en-US" sz="1150" dirty="0"/>
          </a:p>
        </p:txBody>
      </p:sp>
      <p:sp>
        <p:nvSpPr>
          <p:cNvPr id="28" name="sa-0"/>
          <p:cNvSpPr/>
          <p:nvPr/>
        </p:nvSpPr>
        <p:spPr>
          <a:xfrm>
            <a:off x="5010912" y="4078224"/>
            <a:ext cx="201168" cy="274320"/>
          </a:xfrm>
          <a:prstGeom prst="chevron">
            <a:avLst/>
          </a:prstGeom>
          <a:solidFill>
            <a:srgbClr val="C9D2E3"/>
          </a:solidFill>
        </p:spPr>
      </p:sp>
      <p:sp>
        <p:nvSpPr>
          <p:cNvPr id="29" name="so-1"/>
          <p:cNvSpPr/>
          <p:nvPr/>
        </p:nvSpPr>
        <p:spPr>
          <a:xfrm>
            <a:off x="5212080" y="3749040"/>
            <a:ext cx="2468880" cy="914400"/>
          </a:xfrm>
          <a:prstGeom prst="roundRect">
            <a:avLst>
              <a:gd name="adj" fmla="val 8000"/>
            </a:avLst>
          </a:prstGeom>
          <a:solidFill>
            <a:srgbClr val="F4F6FA"/>
          </a:solidFill>
        </p:spPr>
      </p:sp>
      <p:sp>
        <p:nvSpPr>
          <p:cNvPr id="30" name="sob-1"/>
          <p:cNvSpPr/>
          <p:nvPr/>
        </p:nvSpPr>
        <p:spPr>
          <a:xfrm>
            <a:off x="5212080" y="3749040"/>
            <a:ext cx="64008" cy="914400"/>
          </a:xfrm>
          <a:prstGeom prst="rect">
            <a:avLst/>
          </a:prstGeom>
          <a:solidFill>
            <a:srgbClr val="2563EB"/>
          </a:solidFill>
        </p:spPr>
      </p:sp>
      <p:sp>
        <p:nvSpPr>
          <p:cNvPr id="31" name="Text 29"/>
          <p:cNvSpPr txBox="1"/>
          <p:nvPr/>
        </p:nvSpPr>
        <p:spPr>
          <a:xfrm>
            <a:off x="5440680" y="3895344"/>
            <a:ext cx="2103120" cy="292608"/>
          </a:xfrm>
          <a:prstGeom prst="rect">
            <a:avLst/>
          </a:prstGeom>
          <a:noFill/>
        </p:spPr>
        <p:txBody>
          <a:bodyPr wrap="square" lIns="0" tIns="0" rIns="0" bIns="0" rtlCol="0" anchor="ctr"/>
          <a:lstStyle/>
          <a:p>
            <a:pPr marL="0" indent="0">
              <a:buNone/>
            </a:pPr>
            <a:r>
              <a:rPr lang="en-US" sz="1350" b="1" dirty="0">
                <a:solidFill>
                  <a:srgbClr val="2563EB"/>
                </a:solidFill>
              </a:rPr>
              <a:t>Administrator</a:t>
            </a:r>
            <a:endParaRPr lang="en-US" sz="1350" dirty="0"/>
          </a:p>
        </p:txBody>
      </p:sp>
      <p:sp>
        <p:nvSpPr>
          <p:cNvPr id="32" name="Text 30"/>
          <p:cNvSpPr txBox="1"/>
          <p:nvPr/>
        </p:nvSpPr>
        <p:spPr>
          <a:xfrm>
            <a:off x="5440680" y="4206240"/>
            <a:ext cx="2103120" cy="292608"/>
          </a:xfrm>
          <a:prstGeom prst="rect">
            <a:avLst/>
          </a:prstGeom>
          <a:noFill/>
        </p:spPr>
        <p:txBody>
          <a:bodyPr wrap="square" lIns="0" tIns="0" rIns="0" bIns="0" rtlCol="0" anchor="ctr"/>
          <a:lstStyle/>
          <a:p>
            <a:pPr marL="0" indent="0">
              <a:buNone/>
            </a:pPr>
            <a:r>
              <a:rPr lang="en-US" sz="1150" dirty="0">
                <a:solidFill>
                  <a:srgbClr val="4A5568"/>
                </a:solidFill>
              </a:rPr>
              <a:t>the second check</a:t>
            </a:r>
            <a:endParaRPr lang="en-US" sz="1150" dirty="0"/>
          </a:p>
        </p:txBody>
      </p:sp>
      <p:sp>
        <p:nvSpPr>
          <p:cNvPr id="33" name="sa-1"/>
          <p:cNvSpPr/>
          <p:nvPr/>
        </p:nvSpPr>
        <p:spPr>
          <a:xfrm>
            <a:off x="7754112" y="4078224"/>
            <a:ext cx="201168" cy="274320"/>
          </a:xfrm>
          <a:prstGeom prst="chevron">
            <a:avLst/>
          </a:prstGeom>
          <a:solidFill>
            <a:srgbClr val="C9D2E3"/>
          </a:solidFill>
        </p:spPr>
      </p:sp>
      <p:sp>
        <p:nvSpPr>
          <p:cNvPr id="34" name="so-2"/>
          <p:cNvSpPr/>
          <p:nvPr/>
        </p:nvSpPr>
        <p:spPr>
          <a:xfrm>
            <a:off x="7955280" y="3749040"/>
            <a:ext cx="2468880" cy="914400"/>
          </a:xfrm>
          <a:prstGeom prst="roundRect">
            <a:avLst>
              <a:gd name="adj" fmla="val 8000"/>
            </a:avLst>
          </a:prstGeom>
          <a:solidFill>
            <a:srgbClr val="F4F6FA"/>
          </a:solidFill>
        </p:spPr>
      </p:sp>
      <p:sp>
        <p:nvSpPr>
          <p:cNvPr id="35" name="sob-2"/>
          <p:cNvSpPr/>
          <p:nvPr/>
        </p:nvSpPr>
        <p:spPr>
          <a:xfrm>
            <a:off x="7955280" y="3749040"/>
            <a:ext cx="64008" cy="914400"/>
          </a:xfrm>
          <a:prstGeom prst="rect">
            <a:avLst/>
          </a:prstGeom>
          <a:solidFill>
            <a:srgbClr val="6D3FC4"/>
          </a:solidFill>
        </p:spPr>
      </p:sp>
      <p:sp>
        <p:nvSpPr>
          <p:cNvPr id="36" name="Text 34"/>
          <p:cNvSpPr txBox="1"/>
          <p:nvPr/>
        </p:nvSpPr>
        <p:spPr>
          <a:xfrm>
            <a:off x="8183880" y="3895344"/>
            <a:ext cx="2103120" cy="292608"/>
          </a:xfrm>
          <a:prstGeom prst="rect">
            <a:avLst/>
          </a:prstGeom>
          <a:noFill/>
        </p:spPr>
        <p:txBody>
          <a:bodyPr wrap="square" lIns="0" tIns="0" rIns="0" bIns="0" rtlCol="0" anchor="ctr"/>
          <a:lstStyle/>
          <a:p>
            <a:pPr marL="0" indent="0">
              <a:buNone/>
            </a:pPr>
            <a:r>
              <a:rPr lang="en-US" sz="1350" b="1" dirty="0">
                <a:solidFill>
                  <a:srgbClr val="6D3FC4"/>
                </a:solidFill>
              </a:rPr>
              <a:t>CTO</a:t>
            </a:r>
            <a:endParaRPr lang="en-US" sz="1350" dirty="0"/>
          </a:p>
        </p:txBody>
      </p:sp>
      <p:sp>
        <p:nvSpPr>
          <p:cNvPr id="37" name="Text 35"/>
          <p:cNvSpPr txBox="1"/>
          <p:nvPr/>
        </p:nvSpPr>
        <p:spPr>
          <a:xfrm>
            <a:off x="8183880" y="4206240"/>
            <a:ext cx="2103120" cy="292608"/>
          </a:xfrm>
          <a:prstGeom prst="rect">
            <a:avLst/>
          </a:prstGeom>
          <a:noFill/>
        </p:spPr>
        <p:txBody>
          <a:bodyPr wrap="square" lIns="0" tIns="0" rIns="0" bIns="0" rtlCol="0" anchor="ctr"/>
          <a:lstStyle/>
          <a:p>
            <a:pPr marL="0" indent="0">
              <a:buNone/>
            </a:pPr>
            <a:r>
              <a:rPr lang="en-US" sz="1150" dirty="0">
                <a:solidFill>
                  <a:srgbClr val="4A5568"/>
                </a:solidFill>
              </a:rPr>
              <a:t>the final approval</a:t>
            </a:r>
            <a:endParaRPr lang="en-US" sz="1150" dirty="0"/>
          </a:p>
        </p:txBody>
      </p:sp>
      <p:sp>
        <p:nvSpPr>
          <p:cNvPr id="38" name="Text 36"/>
          <p:cNvSpPr txBox="1"/>
          <p:nvPr/>
        </p:nvSpPr>
        <p:spPr>
          <a:xfrm>
            <a:off x="548640" y="4023360"/>
            <a:ext cx="1737360" cy="274320"/>
          </a:xfrm>
          <a:prstGeom prst="rect">
            <a:avLst/>
          </a:prstGeom>
          <a:noFill/>
        </p:spPr>
        <p:txBody>
          <a:bodyPr wrap="square" lIns="0" tIns="0" rIns="0" bIns="0" rtlCol="0" anchor="ctr"/>
          <a:lstStyle/>
          <a:p>
            <a:pPr marL="0" indent="0" algn="r">
              <a:buNone/>
            </a:pPr>
            <a:r>
              <a:rPr lang="en-US" sz="1050" b="1" kern="0" spc="150" dirty="0">
                <a:solidFill>
                  <a:srgbClr val="8A94A6"/>
                </a:solidFill>
              </a:rPr>
              <a:t>THREE SIGN-OFFS</a:t>
            </a:r>
            <a:endParaRPr lang="en-US" sz="1050" dirty="0"/>
          </a:p>
        </p:txBody>
      </p:sp>
      <p:sp>
        <p:nvSpPr>
          <p:cNvPr id="39" name="ok"/>
          <p:cNvSpPr/>
          <p:nvPr/>
        </p:nvSpPr>
        <p:spPr>
          <a:xfrm>
            <a:off x="548640" y="4983480"/>
            <a:ext cx="5486400" cy="914400"/>
          </a:xfrm>
          <a:prstGeom prst="roundRect">
            <a:avLst>
              <a:gd name="adj" fmla="val 8000"/>
            </a:avLst>
          </a:prstGeom>
          <a:solidFill>
            <a:srgbClr val="EAF6EE"/>
          </a:solidFill>
        </p:spPr>
      </p:sp>
      <p:sp>
        <p:nvSpPr>
          <p:cNvPr id="40" name="Text 38"/>
          <p:cNvSpPr txBox="1"/>
          <p:nvPr/>
        </p:nvSpPr>
        <p:spPr>
          <a:xfrm>
            <a:off x="822960" y="5120640"/>
            <a:ext cx="4937760" cy="274320"/>
          </a:xfrm>
          <a:prstGeom prst="rect">
            <a:avLst/>
          </a:prstGeom>
          <a:noFill/>
        </p:spPr>
        <p:txBody>
          <a:bodyPr wrap="square" lIns="0" tIns="0" rIns="0" bIns="0" rtlCol="0" anchor="ctr"/>
          <a:lstStyle/>
          <a:p>
            <a:pPr marL="0" indent="0">
              <a:buNone/>
            </a:pPr>
            <a:r>
              <a:rPr lang="en-US" sz="1400" b="1" dirty="0">
                <a:solidFill>
                  <a:srgbClr val="17663A"/>
                </a:solidFill>
              </a:rPr>
              <a:t>All three given</a:t>
            </a:r>
            <a:endParaRPr lang="en-US" sz="1400" dirty="0"/>
          </a:p>
        </p:txBody>
      </p:sp>
      <p:sp>
        <p:nvSpPr>
          <p:cNvPr id="41" name="Text 39"/>
          <p:cNvSpPr txBox="1"/>
          <p:nvPr/>
        </p:nvSpPr>
        <p:spPr>
          <a:xfrm>
            <a:off x="822960" y="5413248"/>
            <a:ext cx="4937760" cy="365760"/>
          </a:xfrm>
          <a:prstGeom prst="rect">
            <a:avLst/>
          </a:prstGeom>
          <a:noFill/>
        </p:spPr>
        <p:txBody>
          <a:bodyPr wrap="square" lIns="0" tIns="0" rIns="0" bIns="0" rtlCol="0" anchor="ctr"/>
          <a:lstStyle/>
          <a:p>
            <a:pPr marL="0" indent="0">
              <a:buNone/>
            </a:pPr>
            <a:r>
              <a:rPr lang="en-US" sz="1200" dirty="0">
                <a:solidFill>
                  <a:srgbClr val="2C5340"/>
                </a:solidFill>
              </a:rPr>
              <a:t>The sheet counts as data and appears in Browse and the exports.</a:t>
            </a:r>
            <a:endParaRPr lang="en-US" sz="1200" dirty="0"/>
          </a:p>
        </p:txBody>
      </p:sp>
      <p:sp>
        <p:nvSpPr>
          <p:cNvPr id="42" name="no"/>
          <p:cNvSpPr/>
          <p:nvPr/>
        </p:nvSpPr>
        <p:spPr>
          <a:xfrm>
            <a:off x="6217920" y="4983480"/>
            <a:ext cx="5394960" cy="914400"/>
          </a:xfrm>
          <a:prstGeom prst="roundRect">
            <a:avLst>
              <a:gd name="adj" fmla="val 8000"/>
            </a:avLst>
          </a:prstGeom>
          <a:solidFill>
            <a:srgbClr val="FFF1F1"/>
          </a:solidFill>
        </p:spPr>
      </p:sp>
      <p:sp>
        <p:nvSpPr>
          <p:cNvPr id="43" name="Text 41"/>
          <p:cNvSpPr txBox="1"/>
          <p:nvPr/>
        </p:nvSpPr>
        <p:spPr>
          <a:xfrm>
            <a:off x="6492240" y="5120640"/>
            <a:ext cx="4846320" cy="274320"/>
          </a:xfrm>
          <a:prstGeom prst="rect">
            <a:avLst/>
          </a:prstGeom>
          <a:noFill/>
        </p:spPr>
        <p:txBody>
          <a:bodyPr wrap="square" lIns="0" tIns="0" rIns="0" bIns="0" rtlCol="0" anchor="ctr"/>
          <a:lstStyle/>
          <a:p>
            <a:pPr marL="0" indent="0">
              <a:buNone/>
            </a:pPr>
            <a:r>
              <a:rPr lang="en-US" sz="1400" b="1" dirty="0">
                <a:solidFill>
                  <a:srgbClr val="A12020"/>
                </a:solidFill>
              </a:rPr>
              <a:t>Turned down at any stage</a:t>
            </a:r>
            <a:endParaRPr lang="en-US" sz="1400" dirty="0"/>
          </a:p>
        </p:txBody>
      </p:sp>
      <p:sp>
        <p:nvSpPr>
          <p:cNvPr id="44" name="Text 42"/>
          <p:cNvSpPr txBox="1"/>
          <p:nvPr/>
        </p:nvSpPr>
        <p:spPr>
          <a:xfrm>
            <a:off x="6492240" y="5413248"/>
            <a:ext cx="4846320" cy="365760"/>
          </a:xfrm>
          <a:prstGeom prst="rect">
            <a:avLst/>
          </a:prstGeom>
          <a:noFill/>
        </p:spPr>
        <p:txBody>
          <a:bodyPr wrap="square" lIns="0" tIns="0" rIns="0" bIns="0" rtlCol="0" anchor="ctr"/>
          <a:lstStyle/>
          <a:p>
            <a:pPr marL="0" indent="0">
              <a:buNone/>
            </a:pPr>
            <a:r>
              <a:rPr lang="en-US" sz="1200" dirty="0">
                <a:solidFill>
                  <a:srgbClr val="7A1A1A"/>
                </a:solidFill>
              </a:rPr>
              <a:t>The reason is recorded; the sheet is corrected and sent again.</a:t>
            </a:r>
            <a:endParaRPr lang="en-US" sz="1200" dirty="0"/>
          </a:p>
        </p:txBody>
      </p:sp>
      <p:sp>
        <p:nvSpPr>
          <p:cNvPr id="45"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nchor="t"/>
          <a:lstStyle/>
          <a:p>
            <a:pPr marL="0" indent="0" algn="l">
              <a:buNone/>
            </a:pPr>
            <a:r>
              <a:rPr lang="en-US" sz="3400" b="1" dirty="0">
                <a:solidFill>
                  <a:srgbClr val="0D1B3E"/>
                </a:solidFill>
              </a:rPr>
              <a:t>Functional Flow</a:t>
            </a:r>
            <a:endParaRPr lang="en-US" sz="3400" dirty="0"/>
          </a:p>
        </p:txBody>
      </p:sp>
      <p:sp>
        <p:nvSpPr>
          <p:cNvPr id="3" name="sub"/>
          <p:cNvSpPr txBox="1"/>
          <p:nvPr/>
        </p:nvSpPr>
        <p:spPr>
          <a:xfrm>
            <a:off x="548640" y="1261872"/>
            <a:ext cx="11064240" cy="365760"/>
          </a:xfrm>
          <a:prstGeom prst="rect">
            <a:avLst/>
          </a:prstGeom>
          <a:noFill/>
        </p:spPr>
        <p:txBody>
          <a:bodyPr wrap="square" lIns="0" tIns="0" rIns="0" bIns="0" rtlCol="0" anchor="ctr"/>
          <a:lstStyle/>
          <a:p>
            <a:pPr marL="0" indent="0">
              <a:buNone/>
            </a:pPr>
            <a:r>
              <a:rPr lang="en-US" sz="1500" dirty="0">
                <a:solidFill>
                  <a:srgbClr val="4A5568"/>
                </a:solidFill>
              </a:rPr>
              <a:t>Five steps, from the upload page to an export. Nothing is thrown away along the way.</a:t>
            </a:r>
            <a:endParaRPr lang="en-US" sz="1500" dirty="0"/>
          </a:p>
        </p:txBody>
      </p:sp>
      <p:sp>
        <p:nvSpPr>
          <p:cNvPr id="4" name="box-0"/>
          <p:cNvSpPr/>
          <p:nvPr/>
        </p:nvSpPr>
        <p:spPr>
          <a:xfrm>
            <a:off x="548640" y="1965960"/>
            <a:ext cx="1890979" cy="2148840"/>
          </a:xfrm>
          <a:prstGeom prst="roundRect">
            <a:avLst>
              <a:gd name="adj" fmla="val 2418"/>
            </a:avLst>
          </a:prstGeom>
          <a:solidFill>
            <a:srgbClr val="FFFFFF"/>
          </a:solidFill>
          <a:ln w="12700">
            <a:solidFill>
              <a:srgbClr val="D8DFEC"/>
            </a:solidFill>
            <a:prstDash val="solid"/>
          </a:ln>
          <a:effectLst>
            <a:outerShdw blurRad="101600" dist="25400" dir="5400000" algn="bl" rotWithShape="0">
              <a:srgbClr val="0D1B3E">
                <a:alpha val="7000"/>
              </a:srgbClr>
            </a:outerShdw>
          </a:effectLst>
        </p:spPr>
      </p:sp>
      <p:sp>
        <p:nvSpPr>
          <p:cNvPr id="5" name="bar-0"/>
          <p:cNvSpPr/>
          <p:nvPr/>
        </p:nvSpPr>
        <p:spPr>
          <a:xfrm>
            <a:off x="548640" y="1965960"/>
            <a:ext cx="1890979" cy="91440"/>
          </a:xfrm>
          <a:prstGeom prst="rect">
            <a:avLst/>
          </a:prstGeom>
          <a:solidFill>
            <a:srgbClr val="2563EB"/>
          </a:solidFill>
          <a:ln w="12700">
            <a:solidFill>
              <a:srgbClr val="2563EB"/>
            </a:solidFill>
            <a:prstDash val="solid"/>
          </a:ln>
        </p:spPr>
      </p:sp>
      <p:sp>
        <p:nvSpPr>
          <p:cNvPr id="6" name="kick-0"/>
          <p:cNvSpPr txBox="1"/>
          <p:nvPr/>
        </p:nvSpPr>
        <p:spPr>
          <a:xfrm>
            <a:off x="749808" y="2203704"/>
            <a:ext cx="1488643" cy="237744"/>
          </a:xfrm>
          <a:prstGeom prst="rect">
            <a:avLst/>
          </a:prstGeom>
          <a:noFill/>
        </p:spPr>
        <p:txBody>
          <a:bodyPr wrap="square" lIns="0" tIns="0" rIns="0" bIns="0" rtlCol="0" anchor="ctr"/>
          <a:lstStyle/>
          <a:p>
            <a:pPr marL="0" indent="0">
              <a:buNone/>
            </a:pPr>
            <a:r>
              <a:rPr lang="en-US" sz="1000" b="1" kern="0" spc="150" dirty="0">
                <a:solidFill>
                  <a:srgbClr val="2563EB"/>
                </a:solidFill>
              </a:rPr>
              <a:t>STEP 1</a:t>
            </a:r>
            <a:endParaRPr lang="en-US" sz="1000" dirty="0"/>
          </a:p>
        </p:txBody>
      </p:sp>
      <p:sp>
        <p:nvSpPr>
          <p:cNvPr id="7" name="label-0"/>
          <p:cNvSpPr txBox="1"/>
          <p:nvPr/>
        </p:nvSpPr>
        <p:spPr>
          <a:xfrm>
            <a:off x="749808" y="2478024"/>
            <a:ext cx="1488643" cy="384048"/>
          </a:xfrm>
          <a:prstGeom prst="rect">
            <a:avLst/>
          </a:prstGeom>
          <a:noFill/>
        </p:spPr>
        <p:txBody>
          <a:bodyPr wrap="square" lIns="0" tIns="0" rIns="0" bIns="0" rtlCol="0" anchor="ctr"/>
          <a:lstStyle/>
          <a:p>
            <a:pPr marL="0" indent="0">
              <a:buNone/>
            </a:pPr>
            <a:r>
              <a:rPr lang="en-US" sz="1800" b="1" dirty="0">
                <a:solidFill>
                  <a:srgbClr val="0D1B3E"/>
                </a:solidFill>
              </a:rPr>
              <a:t>Receive</a:t>
            </a:r>
            <a:endParaRPr lang="en-US" sz="1800" dirty="0"/>
          </a:p>
        </p:txBody>
      </p:sp>
      <p:sp>
        <p:nvSpPr>
          <p:cNvPr id="8" name="body-0"/>
          <p:cNvSpPr txBox="1"/>
          <p:nvPr/>
        </p:nvSpPr>
        <p:spPr>
          <a:xfrm>
            <a:off x="749808" y="2916936"/>
            <a:ext cx="1488643" cy="1033272"/>
          </a:xfrm>
          <a:prstGeom prst="rect">
            <a:avLst/>
          </a:prstGeom>
          <a:noFill/>
        </p:spPr>
        <p:txBody>
          <a:bodyPr wrap="square" lIns="0" tIns="0" rIns="0" bIns="0" rtlCol="0" anchor="ctr"/>
          <a:lstStyle/>
          <a:p>
            <a:pPr marL="0" indent="0">
              <a:lnSpc>
                <a:spcPct val="115000"/>
              </a:lnSpc>
              <a:buNone/>
            </a:pPr>
            <a:r>
              <a:rPr lang="en-US" sz="1200" dirty="0">
                <a:solidFill>
                  <a:srgbClr val="4A5568"/>
                </a:solidFill>
              </a:rPr>
              <a:t>Project, period and file. The same sheet cannot be sent twice.</a:t>
            </a:r>
            <a:endParaRPr lang="en-US" sz="1200" dirty="0"/>
          </a:p>
        </p:txBody>
      </p:sp>
      <p:sp>
        <p:nvSpPr>
          <p:cNvPr id="9" name="arrow-0"/>
          <p:cNvSpPr/>
          <p:nvPr/>
        </p:nvSpPr>
        <p:spPr>
          <a:xfrm>
            <a:off x="2503627" y="2866644"/>
            <a:ext cx="274320" cy="347472"/>
          </a:xfrm>
          <a:prstGeom prst="rightArrow">
            <a:avLst/>
          </a:prstGeom>
          <a:solidFill>
            <a:srgbClr val="9FB2D8"/>
          </a:solidFill>
          <a:ln w="12700">
            <a:solidFill>
              <a:srgbClr val="9FB2D8"/>
            </a:solidFill>
            <a:prstDash val="solid"/>
          </a:ln>
        </p:spPr>
      </p:sp>
      <p:sp>
        <p:nvSpPr>
          <p:cNvPr id="10" name="box-1"/>
          <p:cNvSpPr/>
          <p:nvPr/>
        </p:nvSpPr>
        <p:spPr>
          <a:xfrm>
            <a:off x="2841955" y="1965960"/>
            <a:ext cx="1890979" cy="2148840"/>
          </a:xfrm>
          <a:prstGeom prst="roundRect">
            <a:avLst>
              <a:gd name="adj" fmla="val 2418"/>
            </a:avLst>
          </a:prstGeom>
          <a:solidFill>
            <a:srgbClr val="FFFFFF"/>
          </a:solidFill>
          <a:ln w="12700">
            <a:solidFill>
              <a:srgbClr val="D8DFEC"/>
            </a:solidFill>
            <a:prstDash val="solid"/>
          </a:ln>
          <a:effectLst>
            <a:outerShdw blurRad="101600" dist="25400" dir="5400000" algn="bl" rotWithShape="0">
              <a:srgbClr val="0D1B3E">
                <a:alpha val="7000"/>
              </a:srgbClr>
            </a:outerShdw>
          </a:effectLst>
        </p:spPr>
      </p:sp>
      <p:sp>
        <p:nvSpPr>
          <p:cNvPr id="11" name="bar-1"/>
          <p:cNvSpPr/>
          <p:nvPr/>
        </p:nvSpPr>
        <p:spPr>
          <a:xfrm>
            <a:off x="2841955" y="1965960"/>
            <a:ext cx="1890979" cy="91440"/>
          </a:xfrm>
          <a:prstGeom prst="rect">
            <a:avLst/>
          </a:prstGeom>
          <a:solidFill>
            <a:srgbClr val="2563EB"/>
          </a:solidFill>
          <a:ln w="12700">
            <a:solidFill>
              <a:srgbClr val="2563EB"/>
            </a:solidFill>
            <a:prstDash val="solid"/>
          </a:ln>
        </p:spPr>
      </p:sp>
      <p:sp>
        <p:nvSpPr>
          <p:cNvPr id="12" name="kick-1"/>
          <p:cNvSpPr txBox="1"/>
          <p:nvPr/>
        </p:nvSpPr>
        <p:spPr>
          <a:xfrm>
            <a:off x="3043123" y="2203704"/>
            <a:ext cx="1488643" cy="237744"/>
          </a:xfrm>
          <a:prstGeom prst="rect">
            <a:avLst/>
          </a:prstGeom>
          <a:noFill/>
        </p:spPr>
        <p:txBody>
          <a:bodyPr wrap="square" lIns="0" tIns="0" rIns="0" bIns="0" rtlCol="0" anchor="ctr"/>
          <a:lstStyle/>
          <a:p>
            <a:pPr marL="0" indent="0">
              <a:buNone/>
            </a:pPr>
            <a:r>
              <a:rPr lang="en-US" sz="1000" b="1" kern="0" spc="150" dirty="0">
                <a:solidFill>
                  <a:srgbClr val="2563EB"/>
                </a:solidFill>
              </a:rPr>
              <a:t>STEP 2</a:t>
            </a:r>
            <a:endParaRPr lang="en-US" sz="1000" dirty="0"/>
          </a:p>
        </p:txBody>
      </p:sp>
      <p:sp>
        <p:nvSpPr>
          <p:cNvPr id="13" name="label-1"/>
          <p:cNvSpPr txBox="1"/>
          <p:nvPr/>
        </p:nvSpPr>
        <p:spPr>
          <a:xfrm>
            <a:off x="3043123" y="2478024"/>
            <a:ext cx="1488643" cy="384048"/>
          </a:xfrm>
          <a:prstGeom prst="rect">
            <a:avLst/>
          </a:prstGeom>
          <a:noFill/>
        </p:spPr>
        <p:txBody>
          <a:bodyPr wrap="square" lIns="0" tIns="0" rIns="0" bIns="0" rtlCol="0" anchor="ctr"/>
          <a:lstStyle/>
          <a:p>
            <a:pPr marL="0" indent="0">
              <a:buNone/>
            </a:pPr>
            <a:r>
              <a:rPr lang="en-US" sz="1800" b="1" dirty="0">
                <a:solidFill>
                  <a:srgbClr val="0D1B3E"/>
                </a:solidFill>
              </a:rPr>
              <a:t>Parse</a:t>
            </a:r>
            <a:endParaRPr lang="en-US" sz="1800" dirty="0"/>
          </a:p>
        </p:txBody>
      </p:sp>
      <p:sp>
        <p:nvSpPr>
          <p:cNvPr id="14" name="body-1"/>
          <p:cNvSpPr txBox="1"/>
          <p:nvPr/>
        </p:nvSpPr>
        <p:spPr>
          <a:xfrm>
            <a:off x="3043123" y="2916936"/>
            <a:ext cx="1488643" cy="1033272"/>
          </a:xfrm>
          <a:prstGeom prst="rect">
            <a:avLst/>
          </a:prstGeom>
          <a:noFill/>
        </p:spPr>
        <p:txBody>
          <a:bodyPr wrap="square" lIns="0" tIns="0" rIns="0" bIns="0" rtlCol="0" anchor="ctr"/>
          <a:lstStyle/>
          <a:p>
            <a:pPr marL="0" indent="0">
              <a:lnSpc>
                <a:spcPct val="115000"/>
              </a:lnSpc>
              <a:buNone/>
            </a:pPr>
            <a:r>
              <a:rPr lang="en-US" sz="1200" dirty="0">
                <a:solidFill>
                  <a:srgbClr val="4A5568"/>
                </a:solidFill>
              </a:rPr>
              <a:t>The headings are found wherever they sit, and matched to fixed columns.</a:t>
            </a:r>
            <a:endParaRPr lang="en-US" sz="1200" dirty="0"/>
          </a:p>
        </p:txBody>
      </p:sp>
      <p:sp>
        <p:nvSpPr>
          <p:cNvPr id="15" name="arrow-1"/>
          <p:cNvSpPr/>
          <p:nvPr/>
        </p:nvSpPr>
        <p:spPr>
          <a:xfrm>
            <a:off x="4796942" y="2866644"/>
            <a:ext cx="274320" cy="347472"/>
          </a:xfrm>
          <a:prstGeom prst="rightArrow">
            <a:avLst/>
          </a:prstGeom>
          <a:solidFill>
            <a:srgbClr val="9FB2D8"/>
          </a:solidFill>
          <a:ln w="12700">
            <a:solidFill>
              <a:srgbClr val="9FB2D8"/>
            </a:solidFill>
            <a:prstDash val="solid"/>
          </a:ln>
        </p:spPr>
      </p:sp>
      <p:sp>
        <p:nvSpPr>
          <p:cNvPr id="16" name="box-2"/>
          <p:cNvSpPr/>
          <p:nvPr/>
        </p:nvSpPr>
        <p:spPr>
          <a:xfrm>
            <a:off x="5135270" y="1965960"/>
            <a:ext cx="1890979" cy="2148840"/>
          </a:xfrm>
          <a:prstGeom prst="roundRect">
            <a:avLst>
              <a:gd name="adj" fmla="val 2418"/>
            </a:avLst>
          </a:prstGeom>
          <a:solidFill>
            <a:srgbClr val="FFFFFF"/>
          </a:solidFill>
          <a:ln w="12700">
            <a:solidFill>
              <a:srgbClr val="D8DFEC"/>
            </a:solidFill>
            <a:prstDash val="solid"/>
          </a:ln>
          <a:effectLst>
            <a:outerShdw blurRad="101600" dist="25400" dir="5400000" algn="bl" rotWithShape="0">
              <a:srgbClr val="0D1B3E">
                <a:alpha val="7000"/>
              </a:srgbClr>
            </a:outerShdw>
          </a:effectLst>
        </p:spPr>
      </p:sp>
      <p:sp>
        <p:nvSpPr>
          <p:cNvPr id="17" name="bar-2"/>
          <p:cNvSpPr/>
          <p:nvPr/>
        </p:nvSpPr>
        <p:spPr>
          <a:xfrm>
            <a:off x="5135270" y="1965960"/>
            <a:ext cx="1890979" cy="91440"/>
          </a:xfrm>
          <a:prstGeom prst="rect">
            <a:avLst/>
          </a:prstGeom>
          <a:solidFill>
            <a:srgbClr val="2563EB"/>
          </a:solidFill>
          <a:ln w="12700">
            <a:solidFill>
              <a:srgbClr val="2563EB"/>
            </a:solidFill>
            <a:prstDash val="solid"/>
          </a:ln>
        </p:spPr>
      </p:sp>
      <p:sp>
        <p:nvSpPr>
          <p:cNvPr id="18" name="kick-2"/>
          <p:cNvSpPr txBox="1"/>
          <p:nvPr/>
        </p:nvSpPr>
        <p:spPr>
          <a:xfrm>
            <a:off x="5336438" y="2203704"/>
            <a:ext cx="1488643" cy="237744"/>
          </a:xfrm>
          <a:prstGeom prst="rect">
            <a:avLst/>
          </a:prstGeom>
          <a:noFill/>
        </p:spPr>
        <p:txBody>
          <a:bodyPr wrap="square" lIns="0" tIns="0" rIns="0" bIns="0" rtlCol="0" anchor="ctr"/>
          <a:lstStyle/>
          <a:p>
            <a:pPr marL="0" indent="0">
              <a:buNone/>
            </a:pPr>
            <a:r>
              <a:rPr lang="en-US" sz="1000" b="1" kern="0" spc="150" dirty="0">
                <a:solidFill>
                  <a:srgbClr val="2563EB"/>
                </a:solidFill>
              </a:rPr>
              <a:t>STEP 3</a:t>
            </a:r>
            <a:endParaRPr lang="en-US" sz="1000" dirty="0"/>
          </a:p>
        </p:txBody>
      </p:sp>
      <p:sp>
        <p:nvSpPr>
          <p:cNvPr id="19" name="label-2"/>
          <p:cNvSpPr txBox="1"/>
          <p:nvPr/>
        </p:nvSpPr>
        <p:spPr>
          <a:xfrm>
            <a:off x="5336438" y="2478024"/>
            <a:ext cx="1488643" cy="384048"/>
          </a:xfrm>
          <a:prstGeom prst="rect">
            <a:avLst/>
          </a:prstGeom>
          <a:noFill/>
        </p:spPr>
        <p:txBody>
          <a:bodyPr wrap="square" lIns="0" tIns="0" rIns="0" bIns="0" rtlCol="0" anchor="ctr"/>
          <a:lstStyle/>
          <a:p>
            <a:pPr marL="0" indent="0">
              <a:buNone/>
            </a:pPr>
            <a:r>
              <a:rPr lang="en-US" sz="1800" b="1" dirty="0">
                <a:solidFill>
                  <a:srgbClr val="0D1B3E"/>
                </a:solidFill>
              </a:rPr>
              <a:t>Save</a:t>
            </a:r>
            <a:endParaRPr lang="en-US" sz="1800" dirty="0"/>
          </a:p>
        </p:txBody>
      </p:sp>
      <p:sp>
        <p:nvSpPr>
          <p:cNvPr id="20" name="body-2"/>
          <p:cNvSpPr txBox="1"/>
          <p:nvPr/>
        </p:nvSpPr>
        <p:spPr>
          <a:xfrm>
            <a:off x="5336438" y="2916936"/>
            <a:ext cx="1488643" cy="1033272"/>
          </a:xfrm>
          <a:prstGeom prst="rect">
            <a:avLst/>
          </a:prstGeom>
          <a:noFill/>
        </p:spPr>
        <p:txBody>
          <a:bodyPr wrap="square" lIns="0" tIns="0" rIns="0" bIns="0" rtlCol="0" anchor="ctr"/>
          <a:lstStyle/>
          <a:p>
            <a:pPr marL="0" indent="0">
              <a:lnSpc>
                <a:spcPct val="115000"/>
              </a:lnSpc>
              <a:buNone/>
            </a:pPr>
            <a:r>
              <a:rPr lang="en-US" sz="1200" dirty="0">
                <a:solidFill>
                  <a:srgbClr val="4A5568"/>
                </a:solidFill>
              </a:rPr>
              <a:t>Dates and numbers converted. Anything unfamiliar is kept, not dropped.</a:t>
            </a:r>
            <a:endParaRPr lang="en-US" sz="1200" dirty="0"/>
          </a:p>
        </p:txBody>
      </p:sp>
      <p:sp>
        <p:nvSpPr>
          <p:cNvPr id="21" name="arrow-2"/>
          <p:cNvSpPr/>
          <p:nvPr/>
        </p:nvSpPr>
        <p:spPr>
          <a:xfrm>
            <a:off x="7090258" y="2866644"/>
            <a:ext cx="274320" cy="347472"/>
          </a:xfrm>
          <a:prstGeom prst="rightArrow">
            <a:avLst/>
          </a:prstGeom>
          <a:solidFill>
            <a:srgbClr val="9FB2D8"/>
          </a:solidFill>
          <a:ln w="12700">
            <a:solidFill>
              <a:srgbClr val="9FB2D8"/>
            </a:solidFill>
            <a:prstDash val="solid"/>
          </a:ln>
        </p:spPr>
      </p:sp>
      <p:sp>
        <p:nvSpPr>
          <p:cNvPr id="22" name="box-3"/>
          <p:cNvSpPr/>
          <p:nvPr/>
        </p:nvSpPr>
        <p:spPr>
          <a:xfrm>
            <a:off x="7428586" y="1965960"/>
            <a:ext cx="1890979" cy="2148840"/>
          </a:xfrm>
          <a:prstGeom prst="roundRect">
            <a:avLst>
              <a:gd name="adj" fmla="val 2418"/>
            </a:avLst>
          </a:prstGeom>
          <a:solidFill>
            <a:srgbClr val="FFFFFF"/>
          </a:solidFill>
          <a:ln w="12700">
            <a:solidFill>
              <a:srgbClr val="D8DFEC"/>
            </a:solidFill>
            <a:prstDash val="solid"/>
          </a:ln>
          <a:effectLst>
            <a:outerShdw blurRad="101600" dist="25400" dir="5400000" algn="bl" rotWithShape="0">
              <a:srgbClr val="0D1B3E">
                <a:alpha val="7000"/>
              </a:srgbClr>
            </a:outerShdw>
          </a:effectLst>
        </p:spPr>
      </p:sp>
      <p:sp>
        <p:nvSpPr>
          <p:cNvPr id="23" name="bar-3"/>
          <p:cNvSpPr/>
          <p:nvPr/>
        </p:nvSpPr>
        <p:spPr>
          <a:xfrm>
            <a:off x="7428586" y="1965960"/>
            <a:ext cx="1890979" cy="91440"/>
          </a:xfrm>
          <a:prstGeom prst="rect">
            <a:avLst/>
          </a:prstGeom>
          <a:solidFill>
            <a:srgbClr val="6D3FC4"/>
          </a:solidFill>
          <a:ln w="12700">
            <a:solidFill>
              <a:srgbClr val="6D3FC4"/>
            </a:solidFill>
            <a:prstDash val="solid"/>
          </a:ln>
        </p:spPr>
      </p:sp>
      <p:sp>
        <p:nvSpPr>
          <p:cNvPr id="24" name="kick-3"/>
          <p:cNvSpPr txBox="1"/>
          <p:nvPr/>
        </p:nvSpPr>
        <p:spPr>
          <a:xfrm>
            <a:off x="7629754" y="2203704"/>
            <a:ext cx="1488643" cy="237744"/>
          </a:xfrm>
          <a:prstGeom prst="rect">
            <a:avLst/>
          </a:prstGeom>
          <a:noFill/>
        </p:spPr>
        <p:txBody>
          <a:bodyPr wrap="square" lIns="0" tIns="0" rIns="0" bIns="0" rtlCol="0" anchor="ctr"/>
          <a:lstStyle/>
          <a:p>
            <a:pPr marL="0" indent="0">
              <a:buNone/>
            </a:pPr>
            <a:r>
              <a:rPr lang="en-US" sz="1000" b="1" kern="0" spc="150" dirty="0">
                <a:solidFill>
                  <a:srgbClr val="6D3FC4"/>
                </a:solidFill>
              </a:rPr>
              <a:t>STEP 4</a:t>
            </a:r>
            <a:endParaRPr lang="en-US" sz="1000" dirty="0"/>
          </a:p>
        </p:txBody>
      </p:sp>
      <p:sp>
        <p:nvSpPr>
          <p:cNvPr id="25" name="label-3"/>
          <p:cNvSpPr txBox="1"/>
          <p:nvPr/>
        </p:nvSpPr>
        <p:spPr>
          <a:xfrm>
            <a:off x="7629754" y="2478024"/>
            <a:ext cx="1488643" cy="384048"/>
          </a:xfrm>
          <a:prstGeom prst="rect">
            <a:avLst/>
          </a:prstGeom>
          <a:noFill/>
        </p:spPr>
        <p:txBody>
          <a:bodyPr wrap="square" lIns="0" tIns="0" rIns="0" bIns="0" rtlCol="0" anchor="ctr"/>
          <a:lstStyle/>
          <a:p>
            <a:pPr marL="0" indent="0">
              <a:buNone/>
            </a:pPr>
            <a:r>
              <a:rPr lang="en-US" sz="1800" b="1" dirty="0">
                <a:solidFill>
                  <a:srgbClr val="0D1B3E"/>
                </a:solidFill>
              </a:rPr>
              <a:t>Approve</a:t>
            </a:r>
            <a:endParaRPr lang="en-US" sz="1800" dirty="0"/>
          </a:p>
        </p:txBody>
      </p:sp>
      <p:sp>
        <p:nvSpPr>
          <p:cNvPr id="26" name="body-3"/>
          <p:cNvSpPr txBox="1"/>
          <p:nvPr/>
        </p:nvSpPr>
        <p:spPr>
          <a:xfrm>
            <a:off x="7629754" y="2916936"/>
            <a:ext cx="1488643" cy="1033272"/>
          </a:xfrm>
          <a:prstGeom prst="rect">
            <a:avLst/>
          </a:prstGeom>
          <a:noFill/>
        </p:spPr>
        <p:txBody>
          <a:bodyPr wrap="square" lIns="0" tIns="0" rIns="0" bIns="0" rtlCol="0" anchor="ctr"/>
          <a:lstStyle/>
          <a:p>
            <a:pPr marL="0" indent="0">
              <a:lnSpc>
                <a:spcPct val="115000"/>
              </a:lnSpc>
              <a:buNone/>
            </a:pPr>
            <a:r>
              <a:rPr lang="en-US" sz="1200" dirty="0">
                <a:solidFill>
                  <a:srgbClr val="4A5568"/>
                </a:solidFill>
              </a:rPr>
              <a:t>Vertical Head, then Administrator, then CTO — each from their own queue.</a:t>
            </a:r>
            <a:endParaRPr lang="en-US" sz="1200" dirty="0"/>
          </a:p>
        </p:txBody>
      </p:sp>
      <p:sp>
        <p:nvSpPr>
          <p:cNvPr id="27" name="arrow-3"/>
          <p:cNvSpPr/>
          <p:nvPr/>
        </p:nvSpPr>
        <p:spPr>
          <a:xfrm>
            <a:off x="9383573" y="2866644"/>
            <a:ext cx="274320" cy="347472"/>
          </a:xfrm>
          <a:prstGeom prst="rightArrow">
            <a:avLst/>
          </a:prstGeom>
          <a:solidFill>
            <a:srgbClr val="9FB2D8"/>
          </a:solidFill>
          <a:ln w="12700">
            <a:solidFill>
              <a:srgbClr val="9FB2D8"/>
            </a:solidFill>
            <a:prstDash val="solid"/>
          </a:ln>
        </p:spPr>
      </p:sp>
      <p:sp>
        <p:nvSpPr>
          <p:cNvPr id="28" name="box-4"/>
          <p:cNvSpPr/>
          <p:nvPr/>
        </p:nvSpPr>
        <p:spPr>
          <a:xfrm>
            <a:off x="9721901" y="1965960"/>
            <a:ext cx="1890979" cy="2148840"/>
          </a:xfrm>
          <a:prstGeom prst="roundRect">
            <a:avLst>
              <a:gd name="adj" fmla="val 2418"/>
            </a:avLst>
          </a:prstGeom>
          <a:solidFill>
            <a:srgbClr val="FFFFFF"/>
          </a:solidFill>
          <a:ln w="12700">
            <a:solidFill>
              <a:srgbClr val="D8DFEC"/>
            </a:solidFill>
            <a:prstDash val="solid"/>
          </a:ln>
          <a:effectLst>
            <a:outerShdw blurRad="101600" dist="25400" dir="5400000" algn="bl" rotWithShape="0">
              <a:srgbClr val="0D1B3E">
                <a:alpha val="7000"/>
              </a:srgbClr>
            </a:outerShdw>
          </a:effectLst>
        </p:spPr>
      </p:sp>
      <p:sp>
        <p:nvSpPr>
          <p:cNvPr id="29" name="bar-4"/>
          <p:cNvSpPr/>
          <p:nvPr/>
        </p:nvSpPr>
        <p:spPr>
          <a:xfrm>
            <a:off x="9721901" y="1965960"/>
            <a:ext cx="1890979" cy="91440"/>
          </a:xfrm>
          <a:prstGeom prst="rect">
            <a:avLst/>
          </a:prstGeom>
          <a:solidFill>
            <a:srgbClr val="17663A"/>
          </a:solidFill>
          <a:ln w="12700">
            <a:solidFill>
              <a:srgbClr val="17663A"/>
            </a:solidFill>
            <a:prstDash val="solid"/>
          </a:ln>
        </p:spPr>
      </p:sp>
      <p:sp>
        <p:nvSpPr>
          <p:cNvPr id="30" name="kick-4"/>
          <p:cNvSpPr txBox="1"/>
          <p:nvPr/>
        </p:nvSpPr>
        <p:spPr>
          <a:xfrm>
            <a:off x="9923069" y="2203704"/>
            <a:ext cx="1488643" cy="237744"/>
          </a:xfrm>
          <a:prstGeom prst="rect">
            <a:avLst/>
          </a:prstGeom>
          <a:noFill/>
        </p:spPr>
        <p:txBody>
          <a:bodyPr wrap="square" lIns="0" tIns="0" rIns="0" bIns="0" rtlCol="0" anchor="ctr"/>
          <a:lstStyle/>
          <a:p>
            <a:pPr marL="0" indent="0">
              <a:buNone/>
            </a:pPr>
            <a:r>
              <a:rPr lang="en-US" sz="1000" b="1" kern="0" spc="150" dirty="0">
                <a:solidFill>
                  <a:srgbClr val="17663A"/>
                </a:solidFill>
              </a:rPr>
              <a:t>STEP 5</a:t>
            </a:r>
            <a:endParaRPr lang="en-US" sz="1000" dirty="0"/>
          </a:p>
        </p:txBody>
      </p:sp>
      <p:sp>
        <p:nvSpPr>
          <p:cNvPr id="31" name="label-4"/>
          <p:cNvSpPr txBox="1"/>
          <p:nvPr/>
        </p:nvSpPr>
        <p:spPr>
          <a:xfrm>
            <a:off x="9923069" y="2478024"/>
            <a:ext cx="1488643" cy="384048"/>
          </a:xfrm>
          <a:prstGeom prst="rect">
            <a:avLst/>
          </a:prstGeom>
          <a:noFill/>
        </p:spPr>
        <p:txBody>
          <a:bodyPr wrap="square" lIns="0" tIns="0" rIns="0" bIns="0" rtlCol="0" anchor="ctr"/>
          <a:lstStyle/>
          <a:p>
            <a:pPr marL="0" indent="0">
              <a:buNone/>
            </a:pPr>
            <a:r>
              <a:rPr lang="en-US" sz="1800" b="1" dirty="0">
                <a:solidFill>
                  <a:srgbClr val="0D1B3E"/>
                </a:solidFill>
              </a:rPr>
              <a:t>Browse</a:t>
            </a:r>
            <a:endParaRPr lang="en-US" sz="1800" dirty="0"/>
          </a:p>
        </p:txBody>
      </p:sp>
      <p:sp>
        <p:nvSpPr>
          <p:cNvPr id="32" name="body-4"/>
          <p:cNvSpPr txBox="1"/>
          <p:nvPr/>
        </p:nvSpPr>
        <p:spPr>
          <a:xfrm>
            <a:off x="9923069" y="2916936"/>
            <a:ext cx="1488643" cy="1033272"/>
          </a:xfrm>
          <a:prstGeom prst="rect">
            <a:avLst/>
          </a:prstGeom>
          <a:noFill/>
        </p:spPr>
        <p:txBody>
          <a:bodyPr wrap="square" lIns="0" tIns="0" rIns="0" bIns="0" rtlCol="0" anchor="ctr"/>
          <a:lstStyle/>
          <a:p>
            <a:pPr marL="0" indent="0">
              <a:lnSpc>
                <a:spcPct val="115000"/>
              </a:lnSpc>
              <a:buNone/>
            </a:pPr>
            <a:r>
              <a:rPr lang="en-US" sz="1200" dirty="0">
                <a:solidFill>
                  <a:srgbClr val="4A5568"/>
                </a:solidFill>
              </a:rPr>
              <a:t>Read, filter and export. Approved sheets only.</a:t>
            </a:r>
            <a:endParaRPr lang="en-US" sz="1200" dirty="0"/>
          </a:p>
        </p:txBody>
      </p:sp>
      <p:sp>
        <p:nvSpPr>
          <p:cNvPr id="33" name="rule"/>
          <p:cNvSpPr/>
          <p:nvPr/>
        </p:nvSpPr>
        <p:spPr>
          <a:xfrm>
            <a:off x="548640" y="4498848"/>
            <a:ext cx="11064240" cy="0"/>
          </a:xfrm>
          <a:prstGeom prst="line">
            <a:avLst/>
          </a:prstGeom>
          <a:noFill/>
          <a:ln w="12700">
            <a:solidFill>
              <a:srgbClr val="E2E7F0"/>
            </a:solidFill>
            <a:prstDash val="solid"/>
          </a:ln>
        </p:spPr>
      </p:sp>
      <p:sp>
        <p:nvSpPr>
          <p:cNvPr id="34" name="cap-l"/>
          <p:cNvSpPr txBox="1"/>
          <p:nvPr/>
        </p:nvSpPr>
        <p:spPr>
          <a:xfrm>
            <a:off x="548640" y="4553712"/>
            <a:ext cx="3657600" cy="274320"/>
          </a:xfrm>
          <a:prstGeom prst="rect">
            <a:avLst/>
          </a:prstGeom>
          <a:noFill/>
        </p:spPr>
        <p:txBody>
          <a:bodyPr wrap="square" lIns="0" tIns="0" rIns="0" bIns="0" rtlCol="0" anchor="ctr"/>
          <a:lstStyle/>
          <a:p>
            <a:pPr marL="0" indent="0">
              <a:buNone/>
            </a:pPr>
            <a:r>
              <a:rPr lang="en-US" sz="1000" b="1" kern="0" spc="150" dirty="0">
                <a:solidFill>
                  <a:srgbClr val="8A94A6"/>
                </a:solidFill>
              </a:rPr>
              <a:t>SHEET ARRIVES</a:t>
            </a:r>
            <a:endParaRPr lang="en-US" sz="1000" dirty="0"/>
          </a:p>
        </p:txBody>
      </p:sp>
      <p:sp>
        <p:nvSpPr>
          <p:cNvPr id="35" name="cap-r"/>
          <p:cNvSpPr txBox="1"/>
          <p:nvPr/>
        </p:nvSpPr>
        <p:spPr>
          <a:xfrm>
            <a:off x="7955280" y="4553712"/>
            <a:ext cx="3657600" cy="274320"/>
          </a:xfrm>
          <a:prstGeom prst="rect">
            <a:avLst/>
          </a:prstGeom>
          <a:noFill/>
        </p:spPr>
        <p:txBody>
          <a:bodyPr wrap="square" lIns="0" tIns="0" rIns="0" bIns="0" rtlCol="0" anchor="ctr"/>
          <a:lstStyle/>
          <a:p>
            <a:pPr marL="0" indent="0" algn="r">
              <a:buNone/>
            </a:pPr>
            <a:r>
              <a:rPr lang="en-US" sz="1000" b="1" kern="0" spc="150" dirty="0">
                <a:solidFill>
                  <a:srgbClr val="8A94A6"/>
                </a:solidFill>
              </a:rPr>
              <a:t>DATA IN USE</a:t>
            </a:r>
            <a:endParaRPr lang="en-US" sz="1000" dirty="0"/>
          </a:p>
        </p:txBody>
      </p:sp>
      <p:sp>
        <p:nvSpPr>
          <p:cNvPr id="36" name="note-bg"/>
          <p:cNvSpPr/>
          <p:nvPr/>
        </p:nvSpPr>
        <p:spPr>
          <a:xfrm>
            <a:off x="548640" y="5029200"/>
            <a:ext cx="11064240" cy="822960"/>
          </a:xfrm>
          <a:prstGeom prst="roundRect">
            <a:avLst>
              <a:gd name="adj" fmla="val 7778"/>
            </a:avLst>
          </a:prstGeom>
          <a:solidFill>
            <a:srgbClr val="F4F6FA"/>
          </a:solidFill>
          <a:ln w="12700">
            <a:solidFill>
              <a:srgbClr val="DCE2EE"/>
            </a:solidFill>
            <a:prstDash val="solid"/>
          </a:ln>
        </p:spPr>
      </p:sp>
      <p:sp>
        <p:nvSpPr>
          <p:cNvPr id="37" name="note-bar"/>
          <p:cNvSpPr/>
          <p:nvPr/>
        </p:nvSpPr>
        <p:spPr>
          <a:xfrm>
            <a:off x="548640" y="5029200"/>
            <a:ext cx="64008" cy="822960"/>
          </a:xfrm>
          <a:prstGeom prst="rect">
            <a:avLst/>
          </a:prstGeom>
          <a:solidFill>
            <a:srgbClr val="2563EB"/>
          </a:solidFill>
          <a:ln w="12700">
            <a:solidFill>
              <a:srgbClr val="2563EB"/>
            </a:solidFill>
            <a:prstDash val="solid"/>
          </a:ln>
        </p:spPr>
      </p:sp>
      <p:sp>
        <p:nvSpPr>
          <p:cNvPr id="38" name="note"/>
          <p:cNvSpPr txBox="1"/>
          <p:nvPr/>
        </p:nvSpPr>
        <p:spPr>
          <a:xfrm>
            <a:off x="841248" y="5029200"/>
            <a:ext cx="10479024" cy="822960"/>
          </a:xfrm>
          <a:prstGeom prst="rect">
            <a:avLst/>
          </a:prstGeom>
          <a:noFill/>
        </p:spPr>
        <p:txBody>
          <a:bodyPr wrap="square" lIns="0" tIns="0" rIns="0" bIns="0" rtlCol="0" anchor="ctr"/>
          <a:lstStyle/>
          <a:p>
            <a:pPr marL="0" indent="0">
              <a:buNone/>
            </a:pPr>
            <a:r>
              <a:rPr lang="en-US" sz="1350" b="1" dirty="0">
                <a:solidFill>
                  <a:srgbClr val="0D1B3E"/>
                </a:solidFill>
              </a:rPr>
              <a:t>The rows are stored at step 3, before anyone approves. </a:t>
            </a:r>
            <a:r>
              <a:rPr lang="en-US" sz="1350" dirty="0">
                <a:solidFill>
                  <a:srgbClr val="4A5568"/>
                </a:solidFill>
              </a:rPr>
              <a:t>The sign-offs decide whether they appear in Browse and the exports.</a:t>
            </a:r>
            <a:endParaRPr lang="en-US" sz="1350" dirty="0"/>
          </a:p>
        </p:txBody>
      </p:sp>
      <p:sp>
        <p:nvSpPr>
          <p:cNvPr id="39"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502920"/>
            <a:ext cx="11064240" cy="914400"/>
          </a:xfrm>
          <a:prstGeom prst="rect">
            <a:avLst/>
          </a:prstGeom>
          <a:noFill/>
        </p:spPr>
        <p:txBody>
          <a:bodyPr wrap="square" rtlCol="0" anchor="t"/>
          <a:lstStyle/>
          <a:p>
            <a:pPr marL="0" indent="0" algn="l">
              <a:buNone/>
            </a:pPr>
            <a:r>
              <a:rPr lang="en-US" sz="3400" b="1" dirty="0">
                <a:solidFill>
                  <a:srgbClr val="0D1B3E"/>
                </a:solidFill>
              </a:rPr>
              <a:t>Application Features</a:t>
            </a:r>
            <a:endParaRPr lang="en-US" sz="3400" dirty="0"/>
          </a:p>
        </p:txBody>
      </p:sp>
      <p:sp>
        <p:nvSpPr>
          <p:cNvPr id="3" name="f5-sub"/>
          <p:cNvSpPr txBox="1"/>
          <p:nvPr/>
        </p:nvSpPr>
        <p:spPr>
          <a:xfrm>
            <a:off x="548640" y="1261872"/>
            <a:ext cx="11064240" cy="365760"/>
          </a:xfrm>
          <a:prstGeom prst="rect">
            <a:avLst/>
          </a:prstGeom>
          <a:noFill/>
        </p:spPr>
        <p:txBody>
          <a:bodyPr wrap="square" lIns="0" tIns="0" rIns="0" bIns="0" rtlCol="0" anchor="ctr"/>
          <a:lstStyle/>
          <a:p>
            <a:pPr marL="0" indent="0">
              <a:buNone/>
            </a:pPr>
            <a:r>
              <a:rPr lang="en-US" sz="1500" dirty="0">
                <a:solidFill>
                  <a:srgbClr val="4A5876"/>
                </a:solidFill>
              </a:rPr>
              <a:t>Eight things the system does, day to day.</a:t>
            </a:r>
            <a:endParaRPr lang="en-US" sz="1500" dirty="0"/>
          </a:p>
        </p:txBody>
      </p:sp>
      <p:sp>
        <p:nvSpPr>
          <p:cNvPr id="4" name="f5-card-0"/>
          <p:cNvSpPr/>
          <p:nvPr/>
        </p:nvSpPr>
        <p:spPr>
          <a:xfrm>
            <a:off x="548640" y="182880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5" name="f5-chip-0"/>
          <p:cNvSpPr/>
          <p:nvPr/>
        </p:nvSpPr>
        <p:spPr>
          <a:xfrm>
            <a:off x="804672" y="2103120"/>
            <a:ext cx="274320" cy="274320"/>
          </a:xfrm>
          <a:prstGeom prst="roundRect">
            <a:avLst>
              <a:gd name="adj" fmla="val 33333"/>
            </a:avLst>
          </a:prstGeom>
          <a:solidFill>
            <a:srgbClr val="2563EB"/>
          </a:solidFill>
          <a:ln w="12700">
            <a:solidFill>
              <a:srgbClr val="2563EB"/>
            </a:solidFill>
            <a:prstDash val="solid"/>
          </a:ln>
        </p:spPr>
      </p:sp>
      <p:sp>
        <p:nvSpPr>
          <p:cNvPr id="6" name="f5-label-0"/>
          <p:cNvSpPr txBox="1"/>
          <p:nvPr/>
        </p:nvSpPr>
        <p:spPr>
          <a:xfrm>
            <a:off x="804672" y="2487168"/>
            <a:ext cx="2075688" cy="347472"/>
          </a:xfrm>
          <a:prstGeom prst="rect">
            <a:avLst/>
          </a:prstGeom>
          <a:noFill/>
        </p:spPr>
        <p:txBody>
          <a:bodyPr wrap="square" lIns="0" tIns="0" rIns="0" bIns="0" rtlCol="0" anchor="ctr"/>
          <a:lstStyle/>
          <a:p>
            <a:pPr marL="0" indent="0">
              <a:buNone/>
            </a:pPr>
            <a:r>
              <a:rPr lang="en-US" sz="1600" b="1" dirty="0">
                <a:solidFill>
                  <a:srgbClr val="0D1B3E"/>
                </a:solidFill>
              </a:rPr>
              <a:t>Sign in</a:t>
            </a:r>
            <a:endParaRPr lang="en-US" sz="1600" dirty="0"/>
          </a:p>
        </p:txBody>
      </p:sp>
      <p:sp>
        <p:nvSpPr>
          <p:cNvPr id="7" name="f5-body-0"/>
          <p:cNvSpPr txBox="1"/>
          <p:nvPr/>
        </p:nvSpPr>
        <p:spPr>
          <a:xfrm>
            <a:off x="804672" y="285292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Four roles. What you may do, and whose sheets you see, follows from yours.</a:t>
            </a:r>
            <a:endParaRPr lang="en-US" sz="1200" dirty="0"/>
          </a:p>
        </p:txBody>
      </p:sp>
      <p:sp>
        <p:nvSpPr>
          <p:cNvPr id="8" name="f5-card-1"/>
          <p:cNvSpPr/>
          <p:nvPr/>
        </p:nvSpPr>
        <p:spPr>
          <a:xfrm>
            <a:off x="3374136" y="182880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9" name="f5-chip-1"/>
          <p:cNvSpPr/>
          <p:nvPr/>
        </p:nvSpPr>
        <p:spPr>
          <a:xfrm>
            <a:off x="3630168" y="2103120"/>
            <a:ext cx="274320" cy="274320"/>
          </a:xfrm>
          <a:prstGeom prst="roundRect">
            <a:avLst>
              <a:gd name="adj" fmla="val 33333"/>
            </a:avLst>
          </a:prstGeom>
          <a:solidFill>
            <a:srgbClr val="A06C0A"/>
          </a:solidFill>
          <a:ln w="12700">
            <a:solidFill>
              <a:srgbClr val="A06C0A"/>
            </a:solidFill>
            <a:prstDash val="solid"/>
          </a:ln>
        </p:spPr>
      </p:sp>
      <p:sp>
        <p:nvSpPr>
          <p:cNvPr id="10" name="f5-label-1"/>
          <p:cNvSpPr txBox="1"/>
          <p:nvPr/>
        </p:nvSpPr>
        <p:spPr>
          <a:xfrm>
            <a:off x="3630168" y="2487168"/>
            <a:ext cx="2075688" cy="347472"/>
          </a:xfrm>
          <a:prstGeom prst="rect">
            <a:avLst/>
          </a:prstGeom>
          <a:noFill/>
        </p:spPr>
        <p:txBody>
          <a:bodyPr wrap="square" lIns="0" tIns="0" rIns="0" bIns="0" rtlCol="0" anchor="ctr"/>
          <a:lstStyle/>
          <a:p>
            <a:pPr marL="0" indent="0">
              <a:buNone/>
            </a:pPr>
            <a:r>
              <a:rPr lang="en-US" sz="1600" b="1" dirty="0">
                <a:solidFill>
                  <a:srgbClr val="0D1B3E"/>
                </a:solidFill>
              </a:rPr>
              <a:t>Upload</a:t>
            </a:r>
            <a:endParaRPr lang="en-US" sz="1600" dirty="0"/>
          </a:p>
        </p:txBody>
      </p:sp>
      <p:sp>
        <p:nvSpPr>
          <p:cNvPr id="11" name="f5-body-1"/>
          <p:cNvSpPr txBox="1"/>
          <p:nvPr/>
        </p:nvSpPr>
        <p:spPr>
          <a:xfrm>
            <a:off x="3630168" y="285292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Pick the project, drop the file. The period is read from the file name.</a:t>
            </a:r>
            <a:endParaRPr lang="en-US" sz="1200" dirty="0"/>
          </a:p>
        </p:txBody>
      </p:sp>
      <p:sp>
        <p:nvSpPr>
          <p:cNvPr id="12" name="f5-card-2"/>
          <p:cNvSpPr/>
          <p:nvPr/>
        </p:nvSpPr>
        <p:spPr>
          <a:xfrm>
            <a:off x="6199632" y="182880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13" name="f5-chip-2"/>
          <p:cNvSpPr/>
          <p:nvPr/>
        </p:nvSpPr>
        <p:spPr>
          <a:xfrm>
            <a:off x="6455664" y="2103120"/>
            <a:ext cx="274320" cy="274320"/>
          </a:xfrm>
          <a:prstGeom prst="roundRect">
            <a:avLst>
              <a:gd name="adj" fmla="val 33333"/>
            </a:avLst>
          </a:prstGeom>
          <a:solidFill>
            <a:srgbClr val="6D3FC4"/>
          </a:solidFill>
          <a:ln w="12700">
            <a:solidFill>
              <a:srgbClr val="6D3FC4"/>
            </a:solidFill>
            <a:prstDash val="solid"/>
          </a:ln>
        </p:spPr>
      </p:sp>
      <p:sp>
        <p:nvSpPr>
          <p:cNvPr id="14" name="f5-label-2"/>
          <p:cNvSpPr txBox="1"/>
          <p:nvPr/>
        </p:nvSpPr>
        <p:spPr>
          <a:xfrm>
            <a:off x="6455664" y="2487168"/>
            <a:ext cx="2075688" cy="347472"/>
          </a:xfrm>
          <a:prstGeom prst="rect">
            <a:avLst/>
          </a:prstGeom>
          <a:noFill/>
        </p:spPr>
        <p:txBody>
          <a:bodyPr wrap="square" lIns="0" tIns="0" rIns="0" bIns="0" rtlCol="0" anchor="ctr"/>
          <a:lstStyle/>
          <a:p>
            <a:pPr marL="0" indent="0">
              <a:buNone/>
            </a:pPr>
            <a:r>
              <a:rPr lang="en-US" sz="1600" b="1" dirty="0">
                <a:solidFill>
                  <a:srgbClr val="0D1B3E"/>
                </a:solidFill>
              </a:rPr>
              <a:t>Status Queue</a:t>
            </a:r>
            <a:endParaRPr lang="en-US" sz="1600" dirty="0"/>
          </a:p>
        </p:txBody>
      </p:sp>
      <p:sp>
        <p:nvSpPr>
          <p:cNvPr id="15" name="f5-body-2"/>
          <p:cNvSpPr txBox="1"/>
          <p:nvPr/>
        </p:nvSpPr>
        <p:spPr>
          <a:xfrm>
            <a:off x="6455664" y="285292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Each approver sees only what is waiting on them. Turn down with a reason.</a:t>
            </a:r>
            <a:endParaRPr lang="en-US" sz="1200" dirty="0"/>
          </a:p>
        </p:txBody>
      </p:sp>
      <p:sp>
        <p:nvSpPr>
          <p:cNvPr id="16" name="f5-card-3"/>
          <p:cNvSpPr/>
          <p:nvPr/>
        </p:nvSpPr>
        <p:spPr>
          <a:xfrm>
            <a:off x="9025128" y="182880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17" name="f5-chip-3"/>
          <p:cNvSpPr/>
          <p:nvPr/>
        </p:nvSpPr>
        <p:spPr>
          <a:xfrm>
            <a:off x="9281160" y="2103120"/>
            <a:ext cx="274320" cy="274320"/>
          </a:xfrm>
          <a:prstGeom prst="roundRect">
            <a:avLst>
              <a:gd name="adj" fmla="val 33333"/>
            </a:avLst>
          </a:prstGeom>
          <a:solidFill>
            <a:srgbClr val="17663A"/>
          </a:solidFill>
          <a:ln w="12700">
            <a:solidFill>
              <a:srgbClr val="17663A"/>
            </a:solidFill>
            <a:prstDash val="solid"/>
          </a:ln>
        </p:spPr>
      </p:sp>
      <p:sp>
        <p:nvSpPr>
          <p:cNvPr id="18" name="f5-label-3"/>
          <p:cNvSpPr txBox="1"/>
          <p:nvPr/>
        </p:nvSpPr>
        <p:spPr>
          <a:xfrm>
            <a:off x="9281160" y="2487168"/>
            <a:ext cx="2075688" cy="347472"/>
          </a:xfrm>
          <a:prstGeom prst="rect">
            <a:avLst/>
          </a:prstGeom>
          <a:noFill/>
        </p:spPr>
        <p:txBody>
          <a:bodyPr wrap="square" lIns="0" tIns="0" rIns="0" bIns="0" rtlCol="0" anchor="ctr"/>
          <a:lstStyle/>
          <a:p>
            <a:pPr marL="0" indent="0">
              <a:buNone/>
            </a:pPr>
            <a:r>
              <a:rPr lang="en-US" sz="1600" b="1" dirty="0">
                <a:solidFill>
                  <a:srgbClr val="0D1B3E"/>
                </a:solidFill>
              </a:rPr>
              <a:t>Browse rows</a:t>
            </a:r>
            <a:endParaRPr lang="en-US" sz="1600" dirty="0"/>
          </a:p>
        </p:txBody>
      </p:sp>
      <p:sp>
        <p:nvSpPr>
          <p:cNvPr id="19" name="f5-body-3"/>
          <p:cNvSpPr txBox="1"/>
          <p:nvPr/>
        </p:nvSpPr>
        <p:spPr>
          <a:xfrm>
            <a:off x="9281160" y="285292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Every stored row, filtered by project, period and worksheet.</a:t>
            </a:r>
            <a:endParaRPr lang="en-US" sz="1200" dirty="0"/>
          </a:p>
        </p:txBody>
      </p:sp>
      <p:sp>
        <p:nvSpPr>
          <p:cNvPr id="20" name="f5-card-4"/>
          <p:cNvSpPr/>
          <p:nvPr/>
        </p:nvSpPr>
        <p:spPr>
          <a:xfrm>
            <a:off x="548640" y="397764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21" name="f5-chip-4"/>
          <p:cNvSpPr/>
          <p:nvPr/>
        </p:nvSpPr>
        <p:spPr>
          <a:xfrm>
            <a:off x="804672" y="4251960"/>
            <a:ext cx="274320" cy="274320"/>
          </a:xfrm>
          <a:prstGeom prst="roundRect">
            <a:avLst>
              <a:gd name="adj" fmla="val 33333"/>
            </a:avLst>
          </a:prstGeom>
          <a:solidFill>
            <a:srgbClr val="2563EB"/>
          </a:solidFill>
          <a:ln w="12700">
            <a:solidFill>
              <a:srgbClr val="2563EB"/>
            </a:solidFill>
            <a:prstDash val="solid"/>
          </a:ln>
        </p:spPr>
      </p:sp>
      <p:sp>
        <p:nvSpPr>
          <p:cNvPr id="22" name="f5-label-4"/>
          <p:cNvSpPr txBox="1"/>
          <p:nvPr/>
        </p:nvSpPr>
        <p:spPr>
          <a:xfrm>
            <a:off x="804672" y="4636008"/>
            <a:ext cx="2075688" cy="347472"/>
          </a:xfrm>
          <a:prstGeom prst="rect">
            <a:avLst/>
          </a:prstGeom>
          <a:noFill/>
        </p:spPr>
        <p:txBody>
          <a:bodyPr wrap="square" lIns="0" tIns="0" rIns="0" bIns="0" rtlCol="0" anchor="ctr"/>
          <a:lstStyle/>
          <a:p>
            <a:pPr marL="0" indent="0">
              <a:buNone/>
            </a:pPr>
            <a:r>
              <a:rPr lang="en-US" sz="1600" b="1" dirty="0">
                <a:solidFill>
                  <a:srgbClr val="0D1B3E"/>
                </a:solidFill>
              </a:rPr>
              <a:t>Export CSV</a:t>
            </a:r>
            <a:endParaRPr lang="en-US" sz="1600" dirty="0"/>
          </a:p>
        </p:txBody>
      </p:sp>
      <p:sp>
        <p:nvSpPr>
          <p:cNvPr id="23" name="f5-body-4"/>
          <p:cNvSpPr txBox="1"/>
          <p:nvPr/>
        </p:nvSpPr>
        <p:spPr>
          <a:xfrm>
            <a:off x="804672" y="500176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Whatever is on screen, from approved sheets only.</a:t>
            </a:r>
            <a:endParaRPr lang="en-US" sz="1200" dirty="0"/>
          </a:p>
        </p:txBody>
      </p:sp>
      <p:sp>
        <p:nvSpPr>
          <p:cNvPr id="24" name="f5-card-5"/>
          <p:cNvSpPr/>
          <p:nvPr/>
        </p:nvSpPr>
        <p:spPr>
          <a:xfrm>
            <a:off x="3374136" y="397764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25" name="f5-chip-5"/>
          <p:cNvSpPr/>
          <p:nvPr/>
        </p:nvSpPr>
        <p:spPr>
          <a:xfrm>
            <a:off x="3630168" y="4251960"/>
            <a:ext cx="274320" cy="274320"/>
          </a:xfrm>
          <a:prstGeom prst="roundRect">
            <a:avLst>
              <a:gd name="adj" fmla="val 33333"/>
            </a:avLst>
          </a:prstGeom>
          <a:solidFill>
            <a:srgbClr val="A06C0A"/>
          </a:solidFill>
          <a:ln w="12700">
            <a:solidFill>
              <a:srgbClr val="A06C0A"/>
            </a:solidFill>
            <a:prstDash val="solid"/>
          </a:ln>
        </p:spPr>
      </p:sp>
      <p:sp>
        <p:nvSpPr>
          <p:cNvPr id="26" name="f5-label-5"/>
          <p:cNvSpPr txBox="1"/>
          <p:nvPr/>
        </p:nvSpPr>
        <p:spPr>
          <a:xfrm>
            <a:off x="3630168" y="4636008"/>
            <a:ext cx="2075688" cy="347472"/>
          </a:xfrm>
          <a:prstGeom prst="rect">
            <a:avLst/>
          </a:prstGeom>
          <a:noFill/>
        </p:spPr>
        <p:txBody>
          <a:bodyPr wrap="square" lIns="0" tIns="0" rIns="0" bIns="0" rtlCol="0" anchor="ctr"/>
          <a:lstStyle/>
          <a:p>
            <a:pPr marL="0" indent="0">
              <a:buNone/>
            </a:pPr>
            <a:r>
              <a:rPr lang="en-US" sz="1600" b="1" dirty="0">
                <a:solidFill>
                  <a:srgbClr val="0D1B3E"/>
                </a:solidFill>
              </a:rPr>
              <a:t>Activity</a:t>
            </a:r>
            <a:endParaRPr lang="en-US" sz="1600" dirty="0"/>
          </a:p>
        </p:txBody>
      </p:sp>
      <p:sp>
        <p:nvSpPr>
          <p:cNvPr id="27" name="f5-body-5"/>
          <p:cNvSpPr txBox="1"/>
          <p:nvPr/>
        </p:nvSpPr>
        <p:spPr>
          <a:xfrm>
            <a:off x="3630168" y="500176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Who uploaded, approved or turned down what, newest first.</a:t>
            </a:r>
            <a:endParaRPr lang="en-US" sz="1200" dirty="0"/>
          </a:p>
        </p:txBody>
      </p:sp>
      <p:sp>
        <p:nvSpPr>
          <p:cNvPr id="28" name="f5-card-6"/>
          <p:cNvSpPr/>
          <p:nvPr/>
        </p:nvSpPr>
        <p:spPr>
          <a:xfrm>
            <a:off x="6199632" y="397764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29" name="f5-chip-6"/>
          <p:cNvSpPr/>
          <p:nvPr/>
        </p:nvSpPr>
        <p:spPr>
          <a:xfrm>
            <a:off x="6455664" y="4251960"/>
            <a:ext cx="274320" cy="274320"/>
          </a:xfrm>
          <a:prstGeom prst="roundRect">
            <a:avLst>
              <a:gd name="adj" fmla="val 33333"/>
            </a:avLst>
          </a:prstGeom>
          <a:solidFill>
            <a:srgbClr val="6D3FC4"/>
          </a:solidFill>
          <a:ln w="12700">
            <a:solidFill>
              <a:srgbClr val="6D3FC4"/>
            </a:solidFill>
            <a:prstDash val="solid"/>
          </a:ln>
        </p:spPr>
      </p:sp>
      <p:sp>
        <p:nvSpPr>
          <p:cNvPr id="30" name="f5-label-6"/>
          <p:cNvSpPr txBox="1"/>
          <p:nvPr/>
        </p:nvSpPr>
        <p:spPr>
          <a:xfrm>
            <a:off x="6455664" y="4636008"/>
            <a:ext cx="2075688" cy="347472"/>
          </a:xfrm>
          <a:prstGeom prst="rect">
            <a:avLst/>
          </a:prstGeom>
          <a:noFill/>
        </p:spPr>
        <p:txBody>
          <a:bodyPr wrap="square" lIns="0" tIns="0" rIns="0" bIns="0" rtlCol="0" anchor="ctr"/>
          <a:lstStyle/>
          <a:p>
            <a:pPr marL="0" indent="0">
              <a:buNone/>
            </a:pPr>
            <a:r>
              <a:rPr lang="en-US" sz="1600" b="1" dirty="0">
                <a:solidFill>
                  <a:srgbClr val="0D1B3E"/>
                </a:solidFill>
              </a:rPr>
              <a:t>Organogram</a:t>
            </a:r>
            <a:endParaRPr lang="en-US" sz="1600" dirty="0"/>
          </a:p>
        </p:txBody>
      </p:sp>
      <p:sp>
        <p:nvSpPr>
          <p:cNvPr id="31" name="f5-body-6"/>
          <p:cNvSpPr txBox="1"/>
          <p:nvPr/>
        </p:nvSpPr>
        <p:spPr>
          <a:xfrm>
            <a:off x="6455664" y="500176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The vertical, the head and the reporting line behind each project.</a:t>
            </a:r>
            <a:endParaRPr lang="en-US" sz="1200" dirty="0"/>
          </a:p>
        </p:txBody>
      </p:sp>
      <p:sp>
        <p:nvSpPr>
          <p:cNvPr id="32" name="f5-card-7"/>
          <p:cNvSpPr/>
          <p:nvPr/>
        </p:nvSpPr>
        <p:spPr>
          <a:xfrm>
            <a:off x="9025128" y="3977640"/>
            <a:ext cx="2587752" cy="1874520"/>
          </a:xfrm>
          <a:prstGeom prst="roundRect">
            <a:avLst>
              <a:gd name="adj" fmla="val 2927"/>
            </a:avLst>
          </a:prstGeom>
          <a:solidFill>
            <a:srgbClr val="FFFFFF"/>
          </a:solidFill>
          <a:ln w="12700">
            <a:solidFill>
              <a:srgbClr val="DCE2EE"/>
            </a:solidFill>
            <a:prstDash val="solid"/>
          </a:ln>
          <a:effectLst>
            <a:outerShdw blurRad="101600" dist="25400" dir="5400000" algn="bl" rotWithShape="0">
              <a:srgbClr val="0D1B3E">
                <a:alpha val="8000"/>
              </a:srgbClr>
            </a:outerShdw>
          </a:effectLst>
        </p:spPr>
      </p:sp>
      <p:sp>
        <p:nvSpPr>
          <p:cNvPr id="33" name="f5-chip-7"/>
          <p:cNvSpPr/>
          <p:nvPr/>
        </p:nvSpPr>
        <p:spPr>
          <a:xfrm>
            <a:off x="9281160" y="4251960"/>
            <a:ext cx="274320" cy="274320"/>
          </a:xfrm>
          <a:prstGeom prst="roundRect">
            <a:avLst>
              <a:gd name="adj" fmla="val 33333"/>
            </a:avLst>
          </a:prstGeom>
          <a:solidFill>
            <a:srgbClr val="17663A"/>
          </a:solidFill>
          <a:ln w="12700">
            <a:solidFill>
              <a:srgbClr val="17663A"/>
            </a:solidFill>
            <a:prstDash val="solid"/>
          </a:ln>
        </p:spPr>
      </p:sp>
      <p:sp>
        <p:nvSpPr>
          <p:cNvPr id="34" name="f5-label-7"/>
          <p:cNvSpPr txBox="1"/>
          <p:nvPr/>
        </p:nvSpPr>
        <p:spPr>
          <a:xfrm>
            <a:off x="9281160" y="4636008"/>
            <a:ext cx="2075688" cy="347472"/>
          </a:xfrm>
          <a:prstGeom prst="rect">
            <a:avLst/>
          </a:prstGeom>
          <a:noFill/>
        </p:spPr>
        <p:txBody>
          <a:bodyPr wrap="square" lIns="0" tIns="0" rIns="0" bIns="0" rtlCol="0" anchor="ctr"/>
          <a:lstStyle/>
          <a:p>
            <a:pPr marL="0" indent="0">
              <a:buNone/>
            </a:pPr>
            <a:r>
              <a:rPr lang="en-US" sz="1600" b="1" dirty="0">
                <a:solidFill>
                  <a:srgbClr val="0D1B3E"/>
                </a:solidFill>
              </a:rPr>
              <a:t>Periods</a:t>
            </a:r>
            <a:endParaRPr lang="en-US" sz="1600" dirty="0"/>
          </a:p>
        </p:txBody>
      </p:sp>
      <p:sp>
        <p:nvSpPr>
          <p:cNvPr id="35" name="f5-body-7"/>
          <p:cNvSpPr txBox="1"/>
          <p:nvPr/>
        </p:nvSpPr>
        <p:spPr>
          <a:xfrm>
            <a:off x="9281160" y="5001768"/>
            <a:ext cx="2075688" cy="713232"/>
          </a:xfrm>
          <a:prstGeom prst="rect">
            <a:avLst/>
          </a:prstGeom>
          <a:noFill/>
        </p:spPr>
        <p:txBody>
          <a:bodyPr wrap="square" lIns="0" tIns="0" rIns="0" bIns="0" rtlCol="0" anchor="ctr"/>
          <a:lstStyle/>
          <a:p>
            <a:pPr marL="0" indent="0">
              <a:lnSpc>
                <a:spcPct val="112000"/>
              </a:lnSpc>
              <a:buNone/>
            </a:pPr>
            <a:r>
              <a:rPr lang="en-US" sz="1200" dirty="0">
                <a:solidFill>
                  <a:srgbClr val="4A5876"/>
                </a:solidFill>
              </a:rPr>
              <a:t>Every sheet pinned to a reporting cycle, so a query can group by quarter.</a:t>
            </a:r>
            <a:endParaRPr lang="en-US" sz="1200" dirty="0"/>
          </a:p>
        </p:txBody>
      </p:sp>
      <p:sp>
        <p:nvSpPr>
          <p:cNvPr id="36" name="Slide Number Placeholder 0"/>
          <p:cNvSpPr>
            <a:spLocks noGrp="1"/>
          </p:cNvSpPr>
          <p:nvPr>
            <p:ph type="sldNum" sz="quarter" idx="4294967295"/>
          </p:nvPr>
        </p:nvSpPr>
        <p:spPr>
          <a:xfrm>
            <a:off x="11338560" y="6400800"/>
            <a:ext cx="800000" cy="300000"/>
          </a:xfrm>
          <a:prstGeom prst="rect">
            <a:avLst/>
          </a:prstGeom>
        </p:spPr>
        <p:txBody>
          <a:bodyPr/>
          <a:lstStyle>
            <a:lvl1pPr>
              <a:defRPr sz="1000">
                <a:solidFill>
                  <a:srgbClr val="8A94A6"/>
                </a:solidFill>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1005840"/>
            <a:ext cx="11064240" cy="365760"/>
          </a:xfrm>
          <a:prstGeom prst="rect">
            <a:avLst/>
          </a:prstGeom>
          <a:noFill/>
        </p:spPr>
        <p:txBody>
          <a:bodyPr wrap="square" rtlCol="0"/>
          <a:lstStyle/>
          <a:p>
            <a:pPr marL="0" indent="0">
              <a:buNone/>
            </a:pPr>
            <a:r>
              <a:rPr lang="en-US" sz="1300" b="1" kern="0" spc="300" dirty="0">
                <a:solidFill>
                  <a:srgbClr val="8FA8DC"/>
                </a:solidFill>
              </a:rPr>
              <a:t>CMMI  DATA  REPOSITORY</a:t>
            </a:r>
            <a:endParaRPr lang="en-US" sz="1300" dirty="0"/>
          </a:p>
        </p:txBody>
      </p:sp>
      <p:sp>
        <p:nvSpPr>
          <p:cNvPr id="3" name="Text 0"/>
          <p:cNvSpPr/>
          <p:nvPr>
            <p:ph type="title" idx="101" hasCustomPrompt="1"/>
          </p:nvPr>
        </p:nvSpPr>
        <p:spPr>
          <a:xfrm>
            <a:off x="548640" y="1737360"/>
            <a:ext cx="11064240" cy="1737360"/>
          </a:xfrm>
          <a:prstGeom prst="rect">
            <a:avLst/>
          </a:prstGeom>
          <a:noFill/>
        </p:spPr>
        <p:txBody>
          <a:bodyPr wrap="square" rtlCol="0" anchor="t"/>
          <a:lstStyle/>
          <a:p>
            <a:pPr marL="0" indent="0" algn="l">
              <a:buNone/>
            </a:pPr>
            <a:r>
              <a:rPr lang="en-US" sz="5400" b="1" dirty="0">
                <a:solidFill>
                  <a:srgbClr val="FFFFFF"/>
                </a:solidFill>
              </a:rPr>
              <a:t>Thank you</a:t>
            </a:r>
            <a:endParaRPr lang="en-US" sz="5400" dirty="0"/>
          </a:p>
        </p:txBody>
      </p:sp>
      <p:sp>
        <p:nvSpPr>
          <p:cNvPr id="4" name="rule"/>
          <p:cNvSpPr/>
          <p:nvPr/>
        </p:nvSpPr>
        <p:spPr>
          <a:xfrm>
            <a:off x="548640" y="3127248"/>
            <a:ext cx="1371600" cy="50292"/>
          </a:xfrm>
          <a:prstGeom prst="rect">
            <a:avLst/>
          </a:prstGeom>
          <a:solidFill>
            <a:srgbClr val="2563EB"/>
          </a:solidFill>
          <a:ln w="12700">
            <a:solidFill>
              <a:srgbClr val="2563EB"/>
            </a:solidFill>
            <a:prstDash val="solid"/>
          </a:ln>
        </p:spPr>
      </p:sp>
      <p:sp>
        <p:nvSpPr>
          <p:cNvPr id="6" name="fact-0"/>
          <p:cNvSpPr txBox="1"/>
          <p:nvPr/>
        </p:nvSpPr>
        <p:spPr>
          <a:xfrm>
            <a:off x="548640" y="4828032"/>
            <a:ext cx="2377440" cy="457200"/>
          </a:xfrm>
          <a:prstGeom prst="rect">
            <a:avLst/>
          </a:prstGeom>
          <a:noFill/>
        </p:spPr>
        <p:txBody>
          <a:bodyPr wrap="square" lIns="0" tIns="0" rIns="0" bIns="0" rtlCol="0" anchor="ctr"/>
          <a:lstStyle/>
          <a:p>
            <a:pPr marL="0" indent="0">
              <a:buNone/>
            </a:pPr>
            <a:endParaRPr lang="en-US" sz="2800" dirty="0"/>
          </a:p>
        </p:txBody>
      </p:sp>
      <p:sp>
        <p:nvSpPr>
          <p:cNvPr id="8" name="div-1"/>
          <p:cNvSpPr/>
          <p:nvPr/>
        </p:nvSpPr>
        <p:spPr>
          <a:xfrm>
            <a:off x="3044952" y="4892040"/>
            <a:ext cx="0" cy="658368"/>
          </a:xfrm>
          <a:prstGeom prst="line">
            <a:avLst/>
          </a:prstGeom>
          <a:noFill/>
          <a:ln w="12700">
            <a:solidFill>
              <a:srgbClr val="1B2D5B"/>
            </a:solidFill>
            <a:prstDash val="solid"/>
          </a:ln>
        </p:spPr>
      </p:sp>
      <p:sp>
        <p:nvSpPr>
          <p:cNvPr id="15" name="fact-3"/>
          <p:cNvSpPr txBox="1"/>
          <p:nvPr/>
        </p:nvSpPr>
        <p:spPr>
          <a:xfrm>
            <a:off x="8915400" y="4828032"/>
            <a:ext cx="2377440" cy="457200"/>
          </a:xfrm>
          <a:prstGeom prst="rect">
            <a:avLst/>
          </a:prstGeom>
          <a:noFill/>
        </p:spPr>
        <p:txBody>
          <a:bodyPr wrap="square" lIns="0" tIns="0" rIns="0" bIns="0" rtlCol="0" anchor="ctr"/>
          <a:lstStyle/>
          <a:p>
            <a:pPr marL="0" indent="0">
              <a:buNone/>
            </a:pPr>
            <a:endParaRPr lang="en-US" sz="2800" dirty="0"/>
          </a:p>
        </p:txBody>
      </p:sp>
    </p:spTree>
  </p:cSld>
  <p:clrMapOvr>
    <a:masterClrMapping/>
  </p:clrMapOvr>
</p:sld>
</file>

<file path=ppt/theme/theme1.xml><?xml version="1.0" encoding="utf-8"?>
<a:theme xmlns:a="http://schemas.openxmlformats.org/drawingml/2006/main" name="CMMI Repository">
  <a:themeElements>
    <a:clrScheme name="CMMI Repository">
      <a:dk1>
        <a:srgbClr val="0D1B3E"/>
      </a:dk1>
      <a:lt1>
        <a:srgbClr val="FFFFFF"/>
      </a:lt1>
      <a:dk2>
        <a:srgbClr val="1B2D5B"/>
      </a:dk2>
      <a:lt2>
        <a:srgbClr val="F4F6FA"/>
      </a:lt2>
      <a:accent1>
        <a:srgbClr val="2563EB"/>
      </a:accent1>
      <a:accent2>
        <a:srgbClr val="A06C0A"/>
      </a:accent2>
      <a:accent3>
        <a:srgbClr val="6D3FC4"/>
      </a:accent3>
      <a:accent4>
        <a:srgbClr val="17663A"/>
      </a:accent4>
      <a:accent5>
        <a:srgbClr val="A12020"/>
      </a:accent5>
      <a:accent6>
        <a:srgbClr val="8FA8DC"/>
      </a:accent6>
      <a:hlink>
        <a:srgbClr val="2563EB"/>
      </a:hlink>
      <a:folHlink>
        <a:srgbClr val="6D3FC4"/>
      </a:folHlink>
    </a:clrScheme>
    <a:fontScheme name="CMMI Reposi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MMI Repository">
  <a:themeElements>
    <a:clrScheme name="CMMI Repository">
      <a:dk1>
        <a:srgbClr val="0D1B3E"/>
      </a:dk1>
      <a:lt1>
        <a:srgbClr val="FFFFFF"/>
      </a:lt1>
      <a:dk2>
        <a:srgbClr val="1B2D5B"/>
      </a:dk2>
      <a:lt2>
        <a:srgbClr val="F4F6FA"/>
      </a:lt2>
      <a:accent1>
        <a:srgbClr val="2563EB"/>
      </a:accent1>
      <a:accent2>
        <a:srgbClr val="A06C0A"/>
      </a:accent2>
      <a:accent3>
        <a:srgbClr val="6D3FC4"/>
      </a:accent3>
      <a:accent4>
        <a:srgbClr val="17663A"/>
      </a:accent4>
      <a:accent5>
        <a:srgbClr val="A12020"/>
      </a:accent5>
      <a:accent6>
        <a:srgbClr val="8FA8DC"/>
      </a:accent6>
      <a:hlink>
        <a:srgbClr val="2563EB"/>
      </a:hlink>
      <a:folHlink>
        <a:srgbClr val="6D3FC4"/>
      </a:folHlink>
    </a:clrScheme>
    <a:fontScheme name="CMMI Reposi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3207</Words>
  <Application>WPS Presentation</Application>
  <PresentationFormat>On-screen Show (16:9)</PresentationFormat>
  <Paragraphs>225</Paragraphs>
  <Slides>7</Slides>
  <Notes>13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vt:i4>
      </vt:variant>
    </vt:vector>
  </HeadingPairs>
  <TitlesOfParts>
    <vt:vector size="21" baseType="lpstr">
      <vt:lpstr>Arial</vt:lpstr>
      <vt:lpstr>SimSun</vt:lpstr>
      <vt:lpstr>Wingdings</vt:lpstr>
      <vt:lpstr>Cambria</vt:lpstr>
      <vt:lpstr>苹方-简</vt:lpstr>
      <vt:lpstr>Cambria</vt:lpstr>
      <vt:lpstr>Cambria</vt:lpstr>
      <vt:lpstr>Calibri</vt:lpstr>
      <vt:lpstr>Helvetica Neue</vt:lpstr>
      <vt:lpstr>Microsoft YaHei</vt:lpstr>
      <vt:lpstr>汉仪旗黑</vt:lpstr>
      <vt:lpstr>Arial Unicode MS</vt:lpstr>
      <vt:lpstr>宋体-简</vt:lpstr>
      <vt:lpstr>CMMI Repository</vt:lpstr>
      <vt:lpstr>CMMI Data Repository</vt:lpstr>
      <vt:lpstr>Two tracks, eleven projects, one database</vt:lpstr>
      <vt:lpstr>Application sign-offs role</vt:lpstr>
      <vt:lpstr>Process flow</vt:lpstr>
      <vt:lpstr>Functional Flow</vt:lpstr>
      <vt:lpstr>Application Features</vt:lpstr>
      <vt:lpstr>Thank you</vt:lpstr>
    </vt:vector>
  </TitlesOfParts>
  <Company>CSC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CMMI Repository Overview</dc:title>
  <dc:creator>Rajkishore Kumar</dc:creator>
  <dc:subject>CMMI data collection repository</dc:subject>
  <cp:lastModifiedBy>nishantketu</cp:lastModifiedBy>
  <cp:revision>6</cp:revision>
  <dcterms:created xsi:type="dcterms:W3CDTF">2026-10-14T07:41:35Z</dcterms:created>
  <dcterms:modified xsi:type="dcterms:W3CDTF">2026-10-14T07:41:35Z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2C3AFE675403AF7E551DCF6A93CB03F3_42</vt:lpwstr>
  </property>
</Properties>
</file>